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5" r:id="rId3"/>
    <p:sldId id="257" r:id="rId4"/>
    <p:sldId id="258" r:id="rId5"/>
    <p:sldId id="421" r:id="rId6"/>
    <p:sldId id="451" r:id="rId7"/>
    <p:sldId id="452" r:id="rId8"/>
    <p:sldId id="458" r:id="rId9"/>
    <p:sldId id="450" r:id="rId10"/>
    <p:sldId id="422" r:id="rId11"/>
    <p:sldId id="455" r:id="rId12"/>
    <p:sldId id="454" r:id="rId13"/>
    <p:sldId id="453" r:id="rId14"/>
    <p:sldId id="463" r:id="rId15"/>
    <p:sldId id="461" r:id="rId16"/>
    <p:sldId id="436" r:id="rId17"/>
    <p:sldId id="456" r:id="rId18"/>
    <p:sldId id="425" r:id="rId19"/>
    <p:sldId id="439" r:id="rId20"/>
    <p:sldId id="459" r:id="rId21"/>
    <p:sldId id="441" r:id="rId22"/>
    <p:sldId id="440" r:id="rId23"/>
    <p:sldId id="350" r:id="rId24"/>
    <p:sldId id="349" r:id="rId25"/>
    <p:sldId id="469" r:id="rId26"/>
    <p:sldId id="472" r:id="rId27"/>
    <p:sldId id="473" r:id="rId28"/>
    <p:sldId id="474" r:id="rId29"/>
    <p:sldId id="476" r:id="rId30"/>
    <p:sldId id="276" r:id="rId31"/>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677"/>
    <p:restoredTop sz="94694"/>
  </p:normalViewPr>
  <p:slideViewPr>
    <p:cSldViewPr snapToGrid="0">
      <p:cViewPr>
        <p:scale>
          <a:sx n="83" d="100"/>
          <a:sy n="83" d="100"/>
        </p:scale>
        <p:origin x="1432" y="9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gs" Target="tags/tag6.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7.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04544673-9D04-E849-BF5B-4C357A685CED}"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45E1C5E-C9F8-B941-B214-4143A603618D}"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04544673-9D04-E849-BF5B-4C357A685CED}"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45E1C5E-C9F8-B941-B214-4143A603618D}"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04544673-9D04-E849-BF5B-4C357A685CED}"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45E1C5E-C9F8-B941-B214-4143A603618D}"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04544673-9D04-E849-BF5B-4C357A685CED}"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B45E1C5E-C9F8-B941-B214-4143A603618D}"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04544673-9D04-E849-BF5B-4C357A685CED}"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B45E1C5E-C9F8-B941-B214-4143A603618D}"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04544673-9D04-E849-BF5B-4C357A685CED}"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B45E1C5E-C9F8-B941-B214-4143A603618D}"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4544673-9D04-E849-BF5B-4C357A685CED}"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B45E1C5E-C9F8-B941-B214-4143A603618D}"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04544673-9D04-E849-BF5B-4C357A685CED}"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B45E1C5E-C9F8-B941-B214-4143A603618D}"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04544673-9D04-E849-BF5B-4C357A685CED}"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B45E1C5E-C9F8-B941-B214-4143A603618D}"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04544673-9D04-E849-BF5B-4C357A685CED}"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45E1C5E-C9F8-B941-B214-4143A603618D}"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04544673-9D04-E849-BF5B-4C357A685CED}"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B45E1C5E-C9F8-B941-B214-4143A603618D}"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544673-9D04-E849-BF5B-4C357A685CED}"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5E1C5E-C9F8-B941-B214-4143A603618D}"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4.bin"/><Relationship Id="rId4" Type="http://schemas.openxmlformats.org/officeDocument/2006/relationships/image" Target="../media/image14.wmf"/><Relationship Id="rId3" Type="http://schemas.openxmlformats.org/officeDocument/2006/relationships/oleObject" Target="../embeddings/oleObject3.bin"/><Relationship Id="rId2" Type="http://schemas.openxmlformats.org/officeDocument/2006/relationships/image" Target="../media/image13.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19.wmf"/><Relationship Id="rId7" Type="http://schemas.openxmlformats.org/officeDocument/2006/relationships/oleObject" Target="../embeddings/oleObject8.bin"/><Relationship Id="rId6" Type="http://schemas.openxmlformats.org/officeDocument/2006/relationships/image" Target="../media/image18.wmf"/><Relationship Id="rId5" Type="http://schemas.openxmlformats.org/officeDocument/2006/relationships/oleObject" Target="../embeddings/oleObject7.bin"/><Relationship Id="rId4" Type="http://schemas.openxmlformats.org/officeDocument/2006/relationships/image" Target="../media/image17.wmf"/><Relationship Id="rId3" Type="http://schemas.openxmlformats.org/officeDocument/2006/relationships/oleObject" Target="../embeddings/oleObject6.bin"/><Relationship Id="rId2" Type="http://schemas.openxmlformats.org/officeDocument/2006/relationships/image" Target="../media/image16.wmf"/><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image" Target="../media/image20.wmf"/><Relationship Id="rId1"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24.wmf"/><Relationship Id="rId7" Type="http://schemas.openxmlformats.org/officeDocument/2006/relationships/oleObject" Target="../embeddings/oleObject13.bin"/><Relationship Id="rId6" Type="http://schemas.openxmlformats.org/officeDocument/2006/relationships/image" Target="../media/image23.wmf"/><Relationship Id="rId5" Type="http://schemas.openxmlformats.org/officeDocument/2006/relationships/oleObject" Target="../embeddings/oleObject12.bin"/><Relationship Id="rId4" Type="http://schemas.openxmlformats.org/officeDocument/2006/relationships/image" Target="../media/image22.wmf"/><Relationship Id="rId3" Type="http://schemas.openxmlformats.org/officeDocument/2006/relationships/oleObject" Target="../embeddings/oleObject11.bin"/><Relationship Id="rId2" Type="http://schemas.openxmlformats.org/officeDocument/2006/relationships/image" Target="../media/image21.wmf"/><Relationship Id="rId12" Type="http://schemas.openxmlformats.org/officeDocument/2006/relationships/vmlDrawing" Target="../drawings/vmlDrawing4.vml"/><Relationship Id="rId11" Type="http://schemas.openxmlformats.org/officeDocument/2006/relationships/slideLayout" Target="../slideLayouts/slideLayout2.xml"/><Relationship Id="rId10" Type="http://schemas.openxmlformats.org/officeDocument/2006/relationships/image" Target="../media/image25.wmf"/><Relationship Id="rId1"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16.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4.png"/><Relationship Id="rId7" Type="http://schemas.openxmlformats.org/officeDocument/2006/relationships/image" Target="../media/image33.png"/><Relationship Id="rId6" Type="http://schemas.openxmlformats.org/officeDocument/2006/relationships/tags" Target="../tags/tag3.xml"/><Relationship Id="rId5" Type="http://schemas.openxmlformats.org/officeDocument/2006/relationships/image" Target="../media/image32.png"/><Relationship Id="rId4" Type="http://schemas.openxmlformats.org/officeDocument/2006/relationships/tags" Target="../tags/tag2.xml"/><Relationship Id="rId3" Type="http://schemas.openxmlformats.org/officeDocument/2006/relationships/image" Target="../media/image31.jpeg"/><Relationship Id="rId2" Type="http://schemas.openxmlformats.org/officeDocument/2006/relationships/image" Target="../media/image30.png"/><Relationship Id="rId10" Type="http://schemas.openxmlformats.org/officeDocument/2006/relationships/slideLayout" Target="../slideLayouts/slideLayout2.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37.wmf"/><Relationship Id="rId2" Type="http://schemas.openxmlformats.org/officeDocument/2006/relationships/oleObject" Target="../embeddings/oleObject15.bin"/><Relationship Id="rId1" Type="http://schemas.openxmlformats.org/officeDocument/2006/relationships/image" Target="../media/image3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5.png"/><Relationship Id="rId2" Type="http://schemas.openxmlformats.org/officeDocument/2006/relationships/tags" Target="../tags/tag5.xml"/><Relationship Id="rId1" Type="http://schemas.openxmlformats.org/officeDocument/2006/relationships/tags" Target="../tags/tag4.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png"/><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25.xml.rels><?xml version="1.0" encoding="UTF-8" standalone="yes"?>
<Relationships xmlns="http://schemas.openxmlformats.org/package/2006/relationships"><Relationship Id="rId9" Type="http://schemas.openxmlformats.org/officeDocument/2006/relationships/image" Target="../media/image58.png"/><Relationship Id="rId8" Type="http://schemas.openxmlformats.org/officeDocument/2006/relationships/image" Target="../media/image57.png"/><Relationship Id="rId7" Type="http://schemas.openxmlformats.org/officeDocument/2006/relationships/image" Target="../media/image56.png"/><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0" Type="http://schemas.openxmlformats.org/officeDocument/2006/relationships/slideLayout" Target="../slideLayouts/slideLayout2.xml"/><Relationship Id="rId1"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31983" t="21639" r="31983" b="27432"/>
          <a:stretch>
            <a:fillRect/>
          </a:stretch>
        </p:blipFill>
        <p:spPr bwMode="auto">
          <a:xfrm>
            <a:off x="3763926" y="1939858"/>
            <a:ext cx="8428074" cy="2861554"/>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0" y="1939858"/>
            <a:ext cx="10166888" cy="2861554"/>
          </a:xfrm>
          <a:prstGeom prst="rect">
            <a:avLst/>
          </a:prstGeom>
          <a:gradFill flip="none" rotWithShape="1">
            <a:gsLst>
              <a:gs pos="0">
                <a:schemeClr val="accent1"/>
              </a:gs>
              <a:gs pos="83000">
                <a:schemeClr val="accent1">
                  <a:alpha val="60050"/>
                </a:schemeClr>
              </a:gs>
              <a:gs pos="63000">
                <a:srgbClr val="9B092D"/>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p:cNvSpPr txBox="1"/>
          <p:nvPr/>
        </p:nvSpPr>
        <p:spPr>
          <a:xfrm>
            <a:off x="145415" y="2215515"/>
            <a:ext cx="7704455" cy="2371090"/>
          </a:xfrm>
          <a:prstGeom prst="rect">
            <a:avLst/>
          </a:prstGeom>
          <a:noFill/>
        </p:spPr>
        <p:txBody>
          <a:bodyPr wrap="square">
            <a:noAutofit/>
          </a:bodyPr>
          <a:lstStyle/>
          <a:p>
            <a:r>
              <a:rPr lang="en-US" altLang="zh-CN" sz="4400" b="1" dirty="0">
                <a:solidFill>
                  <a:schemeClr val="bg1"/>
                </a:solidFill>
                <a:latin typeface="Times New Roman" panose="02020603050405020304" pitchFamily="18" charset="0"/>
                <a:cs typeface="Times New Roman" panose="02020603050405020304" pitchFamily="18" charset="0"/>
              </a:rPr>
              <a:t>Introduction of</a:t>
            </a:r>
            <a:endParaRPr lang="en-US" altLang="zh-CN" sz="4400" b="1" dirty="0">
              <a:solidFill>
                <a:schemeClr val="bg1"/>
              </a:solidFill>
              <a:latin typeface="Times New Roman" panose="02020603050405020304" pitchFamily="18" charset="0"/>
              <a:cs typeface="Times New Roman" panose="02020603050405020304" pitchFamily="18" charset="0"/>
            </a:endParaRPr>
          </a:p>
          <a:p>
            <a:r>
              <a:rPr lang="en-US" altLang="zh-CN" sz="2000" b="1" dirty="0">
                <a:solidFill>
                  <a:schemeClr val="bg1"/>
                </a:solidFill>
                <a:latin typeface="Times New Roman" panose="02020603050405020304" pitchFamily="18" charset="0"/>
                <a:cs typeface="Times New Roman" panose="02020603050405020304" pitchFamily="18" charset="0"/>
              </a:rPr>
              <a:t> </a:t>
            </a:r>
            <a:endParaRPr lang="en-US" altLang="zh-CN" sz="2000" b="1" dirty="0">
              <a:solidFill>
                <a:schemeClr val="bg1"/>
              </a:solidFill>
              <a:latin typeface="Times New Roman" panose="02020603050405020304" pitchFamily="18" charset="0"/>
              <a:cs typeface="Times New Roman" panose="02020603050405020304" pitchFamily="18" charset="0"/>
            </a:endParaRPr>
          </a:p>
          <a:p>
            <a:pPr indent="457200"/>
            <a:r>
              <a:rPr lang="en-US" altLang="zh-CN" sz="3200" b="1" dirty="0">
                <a:solidFill>
                  <a:schemeClr val="bg1"/>
                </a:solidFill>
                <a:latin typeface="Times New Roman" panose="02020603050405020304" pitchFamily="18" charset="0"/>
                <a:cs typeface="Times New Roman" panose="02020603050405020304" pitchFamily="18" charset="0"/>
              </a:rPr>
              <a:t>Technical Skills &amp; Project Experiences</a:t>
            </a:r>
            <a:r>
              <a:rPr lang="en-US" altLang="zh-CN" sz="4400" b="1" dirty="0">
                <a:solidFill>
                  <a:schemeClr val="bg1"/>
                </a:solidFill>
                <a:latin typeface="Times New Roman" panose="02020603050405020304" pitchFamily="18" charset="0"/>
                <a:cs typeface="Times New Roman" panose="02020603050405020304" pitchFamily="18" charset="0"/>
              </a:rPr>
              <a:t> </a:t>
            </a:r>
            <a:endParaRPr lang="en-US" altLang="zh-CN" sz="4400" b="1" dirty="0">
              <a:solidFill>
                <a:schemeClr val="bg1"/>
              </a:solidFill>
              <a:latin typeface="Times New Roman" panose="02020603050405020304" pitchFamily="18" charset="0"/>
              <a:cs typeface="Times New Roman" panose="02020603050405020304" pitchFamily="18" charset="0"/>
            </a:endParaRPr>
          </a:p>
        </p:txBody>
      </p:sp>
      <p:sp>
        <p:nvSpPr>
          <p:cNvPr id="13" name="文本框 12"/>
          <p:cNvSpPr txBox="1"/>
          <p:nvPr/>
        </p:nvSpPr>
        <p:spPr>
          <a:xfrm>
            <a:off x="8112125" y="5501005"/>
            <a:ext cx="3534410" cy="1329055"/>
          </a:xfrm>
          <a:prstGeom prst="rect">
            <a:avLst/>
          </a:prstGeom>
          <a:noFill/>
        </p:spPr>
        <p:txBody>
          <a:bodyPr wrap="square" rtlCol="0">
            <a:noAutofit/>
          </a:bodyPr>
          <a:lstStyle/>
          <a:p>
            <a:pPr>
              <a:lnSpc>
                <a:spcPct val="120000"/>
              </a:lnSpc>
            </a:pPr>
            <a:r>
              <a:rPr kumimoji="1" lang="en-GB"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ZHOU Xiangru (Johnson)</a:t>
            </a:r>
            <a:endParaRPr kumimoji="1" lang="en-US" altLang="zh-CN"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a:p>
            <a:pPr algn="r">
              <a:lnSpc>
                <a:spcPct val="120000"/>
              </a:lnSpc>
            </a:pPr>
            <a:r>
              <a:rPr kumimoji="1" lang="en-US" altLang="en-GB"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from PolyU</a:t>
            </a:r>
            <a:endParaRPr kumimoji="1" lang="en-US" altLang="en-GB" sz="2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灯片编号占位符 2"/>
          <p:cNvSpPr>
            <a:spLocks noGrp="1"/>
          </p:cNvSpPr>
          <p:nvPr>
            <p:ph type="sldNum" sz="quarter" idx="12"/>
          </p:nvPr>
        </p:nvSpPr>
        <p:spPr>
          <a:xfrm>
            <a:off x="11646551" y="6402826"/>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26060" y="1771650"/>
            <a:ext cx="11711305" cy="583565"/>
          </a:xfrm>
          <a:prstGeom prst="rect">
            <a:avLst/>
          </a:prstGeom>
          <a:noFill/>
        </p:spPr>
        <p:txBody>
          <a:bodyPr wrap="square" rtlCol="0">
            <a:spAutoFit/>
          </a:bodyPr>
          <a:lstStyle/>
          <a:p>
            <a:r>
              <a:rPr kumimoji="1" lang="en-US" altLang="zh-CN" sz="3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1. Technical Skills</a:t>
            </a:r>
            <a:endParaRPr kumimoji="1" lang="en-US" altLang="zh-CN" sz="3200" b="1" dirty="0">
              <a:ln w="22225">
                <a:solidFill>
                  <a:schemeClr val="accent2"/>
                </a:solidFill>
                <a:prstDash val="solid"/>
              </a:ln>
              <a:solidFill>
                <a:schemeClr val="accent2">
                  <a:lumMod val="40000"/>
                  <a:lumOff val="60000"/>
                </a:schemeClr>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6060" y="4102735"/>
            <a:ext cx="11711305" cy="583565"/>
          </a:xfrm>
          <a:prstGeom prst="rect">
            <a:avLst/>
          </a:prstGeom>
          <a:noFill/>
        </p:spPr>
        <p:txBody>
          <a:bodyPr wrap="square" rtlCol="0">
            <a:spAutoFit/>
          </a:bodyPr>
          <a:lstStyle/>
          <a:p>
            <a:r>
              <a:rPr kumimoji="1" lang="en-GB" altLang="zh-CN" sz="3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3. </a:t>
            </a:r>
            <a:r>
              <a:rPr kumimoji="1" lang="en-US" altLang="zh-CN" sz="3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R</a:t>
            </a:r>
            <a:r>
              <a:rPr kumimoji="1" lang="en-US" altLang="zh-CN" sz="3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epresentative </a:t>
            </a:r>
            <a:r>
              <a:rPr kumimoji="1" lang="en-US" altLang="en-GB" sz="3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Projects</a:t>
            </a:r>
            <a:endParaRPr kumimoji="1" lang="en-US" altLang="en-GB" sz="3200" b="1" dirty="0">
              <a:ln w="22225">
                <a:solidFill>
                  <a:schemeClr val="accent2"/>
                </a:solidFill>
                <a:prstDash val="solid"/>
              </a:ln>
              <a:solidFill>
                <a:schemeClr val="accent2">
                  <a:lumMod val="40000"/>
                  <a:lumOff val="60000"/>
                </a:schemeClr>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2" name="矩形 1"/>
          <p:cNvSpPr/>
          <p:nvPr/>
        </p:nvSpPr>
        <p:spPr>
          <a:xfrm>
            <a:off x="0" y="0"/>
            <a:ext cx="9512968" cy="9861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p:cNvSpPr txBox="1"/>
          <p:nvPr/>
        </p:nvSpPr>
        <p:spPr>
          <a:xfrm>
            <a:off x="467076" y="191156"/>
            <a:ext cx="6645146" cy="645160"/>
          </a:xfrm>
          <a:prstGeom prst="rect">
            <a:avLst/>
          </a:prstGeom>
          <a:noFill/>
        </p:spPr>
        <p:txBody>
          <a:bodyPr wrap="square" rtlCol="0">
            <a:spAutoFit/>
          </a:bodyPr>
          <a:lstStyle/>
          <a:p>
            <a:r>
              <a:rPr kumimoji="1" lang="en-US" altLang="zh-CN" sz="3600" b="1" spc="300" dirty="0">
                <a:solidFill>
                  <a:schemeClr val="bg1"/>
                </a:solidFill>
                <a:latin typeface="Times New Roman" panose="02020603050405020304" pitchFamily="18" charset="0"/>
                <a:cs typeface="Times New Roman" panose="02020603050405020304" pitchFamily="18" charset="0"/>
              </a:rPr>
              <a:t>OUTLINE</a:t>
            </a:r>
            <a:endParaRPr kumimoji="1" lang="zh-CN" altLang="en-US" sz="3600" b="1" spc="300" dirty="0">
              <a:solidFill>
                <a:schemeClr val="bg1"/>
              </a:solidFill>
              <a:latin typeface="Times New Roman" panose="02020603050405020304" pitchFamily="18" charset="0"/>
              <a:cs typeface="Times New Roman" panose="02020603050405020304" pitchFamily="18" charset="0"/>
            </a:endParaRPr>
          </a:p>
        </p:txBody>
      </p:sp>
      <p:sp>
        <p:nvSpPr>
          <p:cNvPr id="4" name="矩形 3"/>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226060" y="2937510"/>
            <a:ext cx="11711305" cy="560070"/>
          </a:xfrm>
          <a:prstGeom prst="rect">
            <a:avLst/>
          </a:prstGeom>
          <a:noFill/>
        </p:spPr>
        <p:txBody>
          <a:bodyPr wrap="square" rtlCol="0">
            <a:noAutofit/>
          </a:bodyPr>
          <a:p>
            <a:r>
              <a:rPr kumimoji="1" lang="en-GB" altLang="zh-CN" sz="3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en-US" altLang="en-GB" sz="3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3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mn-ea"/>
              </a:rPr>
              <a:t>R&amp;D Background</a:t>
            </a:r>
            <a:endParaRPr kumimoji="1" lang="en-US" altLang="zh-CN" sz="3200" b="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文本框 2"/>
          <p:cNvSpPr txBox="1"/>
          <p:nvPr/>
        </p:nvSpPr>
        <p:spPr>
          <a:xfrm>
            <a:off x="226060" y="5145405"/>
            <a:ext cx="11711305" cy="583565"/>
          </a:xfrm>
          <a:prstGeom prst="rect">
            <a:avLst/>
          </a:prstGeom>
          <a:noFill/>
        </p:spPr>
        <p:txBody>
          <a:bodyPr wrap="square" rtlCol="0">
            <a:spAutoFit/>
          </a:bodyPr>
          <a:lstStyle/>
          <a:p>
            <a:r>
              <a:rPr kumimoji="1" lang="en-US" altLang="en-GB" sz="3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4</a:t>
            </a:r>
            <a:r>
              <a:rPr kumimoji="1" lang="en-GB" altLang="zh-CN" sz="3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32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Future Plans</a:t>
            </a:r>
            <a:endParaRPr kumimoji="1" lang="en-US" altLang="en-GB" sz="3200" b="1" dirty="0">
              <a:ln w="22225">
                <a:solidFill>
                  <a:schemeClr val="accent2"/>
                </a:solidFill>
                <a:prstDash val="solid"/>
              </a:ln>
              <a:solidFill>
                <a:schemeClr val="accent2">
                  <a:lumMod val="40000"/>
                  <a:lumOff val="60000"/>
                </a:schemeClr>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线连接符 5"/>
          <p:cNvCxnSpPr/>
          <p:nvPr/>
        </p:nvCxnSpPr>
        <p:spPr>
          <a:xfrm>
            <a:off x="2579572" y="2598701"/>
            <a:ext cx="0" cy="1965397"/>
          </a:xfrm>
          <a:prstGeom prst="line">
            <a:avLst/>
          </a:prstGeom>
          <a:ln w="28575">
            <a:solidFill>
              <a:schemeClr val="accent1">
                <a:alpha val="67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254132" y="3736631"/>
            <a:ext cx="8292417" cy="645160"/>
          </a:xfrm>
          <a:prstGeom prst="rect">
            <a:avLst/>
          </a:prstGeom>
          <a:noFill/>
        </p:spPr>
        <p:txBody>
          <a:bodyPr wrap="square" rtlCol="0">
            <a:spAutoFit/>
          </a:bodyPr>
          <a:lstStyle/>
          <a:p>
            <a:r>
              <a:rPr kumimoji="1" lang="en-US" altLang="zh-CN" sz="36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mn-ea"/>
              </a:rPr>
              <a:t>Technical Skills</a:t>
            </a:r>
            <a:endParaRPr kumimoji="1" lang="en-GB" altLang="zh-CN" sz="36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3254132" y="2749966"/>
            <a:ext cx="6098582" cy="769441"/>
          </a:xfrm>
          <a:prstGeom prst="rect">
            <a:avLst/>
          </a:prstGeom>
          <a:noFill/>
        </p:spPr>
        <p:txBody>
          <a:bodyPr wrap="square">
            <a:spAutoFit/>
          </a:bodyPr>
          <a:lstStyle/>
          <a:p>
            <a:r>
              <a:rPr kumimoji="1" lang="en-US" altLang="zh-CN" sz="4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01. </a:t>
            </a:r>
            <a:endParaRPr lang="zh-CN" altLang="en-US" sz="4400" dirty="0">
              <a:solidFill>
                <a:schemeClr val="accent1"/>
              </a:solidFill>
            </a:endParaRPr>
          </a:p>
        </p:txBody>
      </p:sp>
      <p:sp>
        <p:nvSpPr>
          <p:cNvPr id="14" name="灯片编号占位符 2"/>
          <p:cNvSpPr>
            <a:spLocks noGrp="1"/>
          </p:cNvSpPr>
          <p:nvPr>
            <p:ph type="sldNum" sz="quarter" idx="12"/>
          </p:nvPr>
        </p:nvSpPr>
        <p:spPr>
          <a:xfrm>
            <a:off x="11576529" y="6127750"/>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2" name="矩形 1"/>
          <p:cNvSpPr/>
          <p:nvPr/>
        </p:nvSpPr>
        <p:spPr>
          <a:xfrm>
            <a:off x="-1" y="1"/>
            <a:ext cx="12191999"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1" y="6492875"/>
            <a:ext cx="12191999"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lang="en-US" altLang="zh-CN" sz="2800" b="1">
                <a:solidFill>
                  <a:schemeClr val="bg1"/>
                </a:solidFill>
                <a:sym typeface="+mn-ea"/>
              </a:rPr>
              <a:t>Technical Skills</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626110" y="927735"/>
            <a:ext cx="10939780" cy="5550535"/>
          </a:xfrm>
          <a:prstGeom prst="rect">
            <a:avLst/>
          </a:prstGeom>
          <a:noFill/>
        </p:spPr>
        <p:txBody>
          <a:bodyPr wrap="square" rtlCol="0">
            <a:noAutofit/>
          </a:bodyPr>
          <a:p>
            <a:pPr marL="342900" indent="-342900" fontAlgn="auto">
              <a:lnSpc>
                <a:spcPct val="150000"/>
              </a:lnSpc>
              <a:buFont typeface="Arial" panose="020B0604020202020204" pitchFamily="34" charset="0"/>
              <a:buChar char="•"/>
            </a:pPr>
            <a:r>
              <a:rPr lang="en-US" altLang="zh-CN" sz="2400">
                <a:latin typeface="Arial" panose="020B0604020202020204" pitchFamily="34" charset="0"/>
                <a:cs typeface="Arial" panose="020B0604020202020204" pitchFamily="34" charset="0"/>
              </a:rPr>
              <a:t>Programming Languages: C, C++, Python, Java, JS, HTML, CSS, PHP</a:t>
            </a:r>
            <a:endParaRPr lang="en-US" altLang="zh-CN" sz="2400">
              <a:latin typeface="Arial" panose="020B0604020202020204" pitchFamily="34" charset="0"/>
              <a:cs typeface="Arial" panose="020B0604020202020204" pitchFamily="34" charset="0"/>
            </a:endParaRPr>
          </a:p>
          <a:p>
            <a:pPr marL="342900" indent="-342900" fontAlgn="auto">
              <a:lnSpc>
                <a:spcPct val="150000"/>
              </a:lnSpc>
              <a:buFont typeface="Arial" panose="020B0604020202020204" pitchFamily="34" charset="0"/>
              <a:buChar char="•"/>
            </a:pPr>
            <a:endParaRPr lang="en-US" altLang="zh-CN" sz="2400">
              <a:latin typeface="Arial" panose="020B0604020202020204" pitchFamily="34" charset="0"/>
              <a:cs typeface="Arial" panose="020B0604020202020204" pitchFamily="34" charset="0"/>
            </a:endParaRPr>
          </a:p>
          <a:p>
            <a:pPr marL="342900" indent="-342900" fontAlgn="auto">
              <a:lnSpc>
                <a:spcPct val="150000"/>
              </a:lnSpc>
              <a:buFont typeface="Arial" panose="020B0604020202020204" pitchFamily="34" charset="0"/>
              <a:buChar char="•"/>
            </a:pPr>
            <a:r>
              <a:rPr lang="en-US" altLang="zh-CN" sz="2400">
                <a:latin typeface="Arial" panose="020B0604020202020204" pitchFamily="34" charset="0"/>
                <a:cs typeface="Arial" panose="020B0604020202020204" pitchFamily="34" charset="0"/>
              </a:rPr>
              <a:t>Platforms: (Local) Windows, Ubuntu; (Remote) Linux, HPC, Aliyun ECS etc.</a:t>
            </a:r>
            <a:endParaRPr lang="en-US" altLang="zh-CN" sz="2400">
              <a:latin typeface="Arial" panose="020B0604020202020204" pitchFamily="34" charset="0"/>
              <a:cs typeface="Arial" panose="020B0604020202020204" pitchFamily="34" charset="0"/>
            </a:endParaRPr>
          </a:p>
          <a:p>
            <a:pPr marL="342900" indent="-342900" fontAlgn="auto">
              <a:lnSpc>
                <a:spcPct val="150000"/>
              </a:lnSpc>
              <a:buFont typeface="Arial" panose="020B0604020202020204" pitchFamily="34" charset="0"/>
              <a:buChar char="•"/>
            </a:pPr>
            <a:endParaRPr lang="en-US" altLang="zh-CN" sz="2400">
              <a:latin typeface="Arial" panose="020B0604020202020204" pitchFamily="34" charset="0"/>
              <a:cs typeface="Arial" panose="020B0604020202020204" pitchFamily="34" charset="0"/>
            </a:endParaRPr>
          </a:p>
          <a:p>
            <a:pPr marL="342900" indent="-342900" fontAlgn="auto">
              <a:lnSpc>
                <a:spcPct val="150000"/>
              </a:lnSpc>
              <a:buFont typeface="Arial" panose="020B0604020202020204" pitchFamily="34" charset="0"/>
              <a:buChar char="•"/>
            </a:pPr>
            <a:r>
              <a:rPr lang="en-US" altLang="zh-CN" sz="2400">
                <a:latin typeface="Arial" panose="020B0604020202020204" pitchFamily="34" charset="0"/>
                <a:cs typeface="Arial" panose="020B0604020202020204" pitchFamily="34" charset="0"/>
              </a:rPr>
              <a:t>Development Tools &amp; Libraries: OpenCV, PyTorch, QT, Visual Studio, gdb/pdb, Git, Docker/Apptainer, Anaconda, Halcon, DeePMD, GPUMD, OpenMM, LAMMPS, OVITO</a:t>
            </a:r>
            <a:endParaRPr lang="en-US" altLang="zh-CN" sz="2400">
              <a:latin typeface="Arial" panose="020B0604020202020204" pitchFamily="34" charset="0"/>
              <a:cs typeface="Arial" panose="020B0604020202020204" pitchFamily="34" charset="0"/>
            </a:endParaRPr>
          </a:p>
          <a:p>
            <a:pPr marL="342900" indent="-342900" fontAlgn="auto">
              <a:lnSpc>
                <a:spcPct val="150000"/>
              </a:lnSpc>
              <a:buFont typeface="Arial" panose="020B0604020202020204" pitchFamily="34" charset="0"/>
              <a:buChar char="•"/>
            </a:pPr>
            <a:endParaRPr lang="en-US" altLang="zh-CN" sz="2400">
              <a:latin typeface="Arial" panose="020B0604020202020204" pitchFamily="34" charset="0"/>
              <a:cs typeface="Arial" panose="020B0604020202020204" pitchFamily="34" charset="0"/>
            </a:endParaRPr>
          </a:p>
          <a:p>
            <a:pPr marL="342900" indent="-342900" fontAlgn="auto">
              <a:lnSpc>
                <a:spcPct val="150000"/>
              </a:lnSpc>
              <a:buFont typeface="Arial" panose="020B0604020202020204" pitchFamily="34" charset="0"/>
              <a:buChar char="•"/>
            </a:pPr>
            <a:r>
              <a:rPr lang="en-US" altLang="zh-CN" sz="2400">
                <a:latin typeface="Arial" panose="020B0604020202020204" pitchFamily="34" charset="0"/>
                <a:cs typeface="Arial" panose="020B0604020202020204" pitchFamily="34" charset="0"/>
              </a:rPr>
              <a:t>Other Skills: Keil (STM32), Altium Designer (PCB), Rhino (3D printing), Dreamweaver (Website)</a:t>
            </a:r>
            <a:endParaRPr lang="en-US" altLang="zh-CN" sz="2400">
              <a:latin typeface="Arial" panose="020B0604020202020204" pitchFamily="34" charset="0"/>
              <a:cs typeface="Arial" panose="020B0604020202020204" pitchFamily="34" charset="0"/>
            </a:endParaRPr>
          </a:p>
        </p:txBody>
      </p:sp>
      <p:sp>
        <p:nvSpPr>
          <p:cNvPr id="5" name="圆角矩形 4"/>
          <p:cNvSpPr/>
          <p:nvPr/>
        </p:nvSpPr>
        <p:spPr>
          <a:xfrm>
            <a:off x="4629150" y="1090295"/>
            <a:ext cx="1017905" cy="431800"/>
          </a:xfrm>
          <a:prstGeom prst="roundRect">
            <a:avLst/>
          </a:prstGeom>
          <a:noFill/>
          <a:ln w="2540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10" name="圆角矩形 9"/>
          <p:cNvSpPr/>
          <p:nvPr/>
        </p:nvSpPr>
        <p:spPr>
          <a:xfrm>
            <a:off x="2467610" y="2194560"/>
            <a:ext cx="2375535" cy="431800"/>
          </a:xfrm>
          <a:prstGeom prst="roundRect">
            <a:avLst/>
          </a:prstGeom>
          <a:noFill/>
          <a:ln w="2540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11" name="圆角矩形 10"/>
          <p:cNvSpPr/>
          <p:nvPr/>
        </p:nvSpPr>
        <p:spPr>
          <a:xfrm>
            <a:off x="7894955" y="3298825"/>
            <a:ext cx="553720" cy="431800"/>
          </a:xfrm>
          <a:prstGeom prst="roundRect">
            <a:avLst/>
          </a:prstGeom>
          <a:noFill/>
          <a:ln w="2540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12" name="圆角矩形 11"/>
          <p:cNvSpPr/>
          <p:nvPr/>
        </p:nvSpPr>
        <p:spPr>
          <a:xfrm>
            <a:off x="2307590" y="3841115"/>
            <a:ext cx="4577080" cy="431800"/>
          </a:xfrm>
          <a:prstGeom prst="roundRect">
            <a:avLst/>
          </a:prstGeom>
          <a:noFill/>
          <a:ln w="25400" cmpd="sng">
            <a:solidFill>
              <a:srgbClr val="00B0F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3" name="圆角矩形 2"/>
          <p:cNvSpPr/>
          <p:nvPr/>
        </p:nvSpPr>
        <p:spPr>
          <a:xfrm>
            <a:off x="5727700" y="1090295"/>
            <a:ext cx="1089660" cy="431800"/>
          </a:xfrm>
          <a:prstGeom prst="roundRect">
            <a:avLst/>
          </a:prstGeom>
          <a:noFill/>
          <a:ln w="25400" cmpd="sng">
            <a:solidFill>
              <a:srgbClr val="00B0F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6" name="圆角矩形 5"/>
          <p:cNvSpPr/>
          <p:nvPr/>
        </p:nvSpPr>
        <p:spPr>
          <a:xfrm>
            <a:off x="4918710" y="2194560"/>
            <a:ext cx="4124325" cy="431800"/>
          </a:xfrm>
          <a:prstGeom prst="roundRect">
            <a:avLst/>
          </a:prstGeom>
          <a:noFill/>
          <a:ln w="25400" cmpd="sng">
            <a:solidFill>
              <a:srgbClr val="00B0F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8" name="圆角矩形 7"/>
          <p:cNvSpPr/>
          <p:nvPr/>
        </p:nvSpPr>
        <p:spPr>
          <a:xfrm>
            <a:off x="5336540" y="3298825"/>
            <a:ext cx="2477135" cy="431800"/>
          </a:xfrm>
          <a:prstGeom prst="roundRect">
            <a:avLst/>
          </a:prstGeom>
          <a:noFill/>
          <a:ln w="25400" cmpd="sng">
            <a:solidFill>
              <a:srgbClr val="00B0F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1" grpId="0" animBg="1"/>
      <p:bldP spid="3" grpId="0" animBg="1"/>
      <p:bldP spid="6" grpId="0" animBg="1"/>
      <p:bldP spid="8"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线连接符 5"/>
          <p:cNvCxnSpPr/>
          <p:nvPr/>
        </p:nvCxnSpPr>
        <p:spPr>
          <a:xfrm>
            <a:off x="2579572" y="2598701"/>
            <a:ext cx="0" cy="1965397"/>
          </a:xfrm>
          <a:prstGeom prst="line">
            <a:avLst/>
          </a:prstGeom>
          <a:ln w="28575">
            <a:solidFill>
              <a:schemeClr val="accent1">
                <a:alpha val="67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254132" y="3736631"/>
            <a:ext cx="8292417" cy="645160"/>
          </a:xfrm>
          <a:prstGeom prst="rect">
            <a:avLst/>
          </a:prstGeom>
          <a:noFill/>
        </p:spPr>
        <p:txBody>
          <a:bodyPr wrap="square" rtlCol="0">
            <a:spAutoFit/>
          </a:bodyPr>
          <a:lstStyle/>
          <a:p>
            <a:r>
              <a:rPr kumimoji="1" lang="en-US" altLang="zh-CN" sz="36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mn-ea"/>
              </a:rPr>
              <a:t>R&amp;D Background</a:t>
            </a:r>
            <a:endParaRPr kumimoji="1" lang="en-GB" altLang="zh-CN" sz="36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3254132" y="2749966"/>
            <a:ext cx="6098582" cy="768350"/>
          </a:xfrm>
          <a:prstGeom prst="rect">
            <a:avLst/>
          </a:prstGeom>
          <a:noFill/>
        </p:spPr>
        <p:txBody>
          <a:bodyPr wrap="square">
            <a:spAutoFit/>
          </a:bodyPr>
          <a:lstStyle/>
          <a:p>
            <a:r>
              <a:rPr kumimoji="1" lang="en-US" altLang="zh-CN" sz="4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02. </a:t>
            </a:r>
            <a:endParaRPr lang="zh-CN" altLang="en-US" sz="4400" dirty="0">
              <a:solidFill>
                <a:schemeClr val="accent1"/>
              </a:solidFill>
            </a:endParaRPr>
          </a:p>
        </p:txBody>
      </p:sp>
      <p:sp>
        <p:nvSpPr>
          <p:cNvPr id="14" name="灯片编号占位符 2"/>
          <p:cNvSpPr>
            <a:spLocks noGrp="1"/>
          </p:cNvSpPr>
          <p:nvPr>
            <p:ph type="sldNum" sz="quarter" idx="12"/>
          </p:nvPr>
        </p:nvSpPr>
        <p:spPr>
          <a:xfrm>
            <a:off x="11576529" y="6127750"/>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2" name="矩形 1"/>
          <p:cNvSpPr/>
          <p:nvPr/>
        </p:nvSpPr>
        <p:spPr>
          <a:xfrm>
            <a:off x="-1" y="1"/>
            <a:ext cx="12191999"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1" y="6492875"/>
            <a:ext cx="12191999"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lang="en-US" altLang="zh-CN" sz="2800" b="1">
                <a:solidFill>
                  <a:schemeClr val="bg1"/>
                </a:solidFill>
                <a:sym typeface="+mn-ea"/>
              </a:rPr>
              <a:t>R&amp;D Background</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6" name="右箭头 5"/>
          <p:cNvSpPr/>
          <p:nvPr/>
        </p:nvSpPr>
        <p:spPr>
          <a:xfrm>
            <a:off x="427355" y="3402965"/>
            <a:ext cx="11336655" cy="828675"/>
          </a:xfrm>
          <a:prstGeom prst="rightArrow">
            <a:avLst>
              <a:gd name="adj1" fmla="val 50000"/>
              <a:gd name="adj2" fmla="val 169782"/>
            </a:avLst>
          </a:prstGeom>
          <a:gradFill>
            <a:gsLst>
              <a:gs pos="50410">
                <a:srgbClr val="FB9B36"/>
              </a:gs>
              <a:gs pos="0">
                <a:srgbClr val="FE564D"/>
              </a:gs>
              <a:gs pos="100000">
                <a:srgbClr val="F9CA26"/>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8" name="文本框 7"/>
          <p:cNvSpPr txBox="1"/>
          <p:nvPr/>
        </p:nvSpPr>
        <p:spPr>
          <a:xfrm>
            <a:off x="636270" y="3632835"/>
            <a:ext cx="4064000" cy="398780"/>
          </a:xfrm>
          <a:prstGeom prst="rect">
            <a:avLst/>
          </a:prstGeom>
          <a:noFill/>
        </p:spPr>
        <p:txBody>
          <a:bodyPr wrap="square" rtlCol="0">
            <a:spAutoFit/>
          </a:bodyPr>
          <a:p>
            <a:r>
              <a:rPr lang="en-US" altLang="zh-CN" sz="2000" b="1">
                <a:solidFill>
                  <a:schemeClr val="accent6"/>
                </a:solidFill>
              </a:rPr>
              <a:t>Image Processing</a:t>
            </a:r>
            <a:endParaRPr lang="en-US" altLang="zh-CN" sz="2000" b="1">
              <a:solidFill>
                <a:schemeClr val="accent6"/>
              </a:solidFill>
            </a:endParaRPr>
          </a:p>
        </p:txBody>
      </p:sp>
      <p:sp>
        <p:nvSpPr>
          <p:cNvPr id="9" name="文本框 8"/>
          <p:cNvSpPr txBox="1"/>
          <p:nvPr/>
        </p:nvSpPr>
        <p:spPr>
          <a:xfrm>
            <a:off x="9101455" y="3632835"/>
            <a:ext cx="730885" cy="398780"/>
          </a:xfrm>
          <a:prstGeom prst="rect">
            <a:avLst/>
          </a:prstGeom>
          <a:noFill/>
        </p:spPr>
        <p:txBody>
          <a:bodyPr wrap="square" rtlCol="0">
            <a:spAutoFit/>
          </a:bodyPr>
          <a:p>
            <a:r>
              <a:rPr lang="en-US" altLang="zh-CN" sz="2000" b="1">
                <a:solidFill>
                  <a:schemeClr val="accent5">
                    <a:lumMod val="75000"/>
                  </a:schemeClr>
                </a:solidFill>
              </a:rPr>
              <a:t>AI+</a:t>
            </a:r>
            <a:endParaRPr lang="en-US" altLang="zh-CN" sz="2000" b="1">
              <a:solidFill>
                <a:schemeClr val="accent5">
                  <a:lumMod val="75000"/>
                </a:schemeClr>
              </a:solidFill>
            </a:endParaRPr>
          </a:p>
        </p:txBody>
      </p:sp>
      <p:sp>
        <p:nvSpPr>
          <p:cNvPr id="13" name="文本框 12"/>
          <p:cNvSpPr txBox="1"/>
          <p:nvPr/>
        </p:nvSpPr>
        <p:spPr>
          <a:xfrm>
            <a:off x="400685" y="4119880"/>
            <a:ext cx="2644140" cy="368300"/>
          </a:xfrm>
          <a:prstGeom prst="rect">
            <a:avLst/>
          </a:prstGeom>
          <a:noFill/>
        </p:spPr>
        <p:txBody>
          <a:bodyPr wrap="square" rtlCol="0">
            <a:spAutoFit/>
          </a:bodyPr>
          <a:p>
            <a:r>
              <a:rPr lang="en-US" altLang="zh-CN" b="1"/>
              <a:t>Bachelors (2009~2013)</a:t>
            </a:r>
            <a:endParaRPr lang="en-US" altLang="zh-CN" b="1"/>
          </a:p>
        </p:txBody>
      </p:sp>
      <p:sp>
        <p:nvSpPr>
          <p:cNvPr id="14" name="文本框 13"/>
          <p:cNvSpPr txBox="1"/>
          <p:nvPr/>
        </p:nvSpPr>
        <p:spPr>
          <a:xfrm>
            <a:off x="7980045" y="4119880"/>
            <a:ext cx="2387600" cy="368300"/>
          </a:xfrm>
          <a:prstGeom prst="rect">
            <a:avLst/>
          </a:prstGeom>
          <a:noFill/>
        </p:spPr>
        <p:txBody>
          <a:bodyPr wrap="square" rtlCol="0">
            <a:spAutoFit/>
          </a:bodyPr>
          <a:p>
            <a:r>
              <a:rPr lang="en-US" altLang="zh-CN" b="1"/>
              <a:t>Masters (2024~2025)</a:t>
            </a:r>
            <a:endParaRPr lang="en-US" altLang="zh-CN" b="1"/>
          </a:p>
        </p:txBody>
      </p:sp>
      <p:sp>
        <p:nvSpPr>
          <p:cNvPr id="15" name="文本框 14"/>
          <p:cNvSpPr txBox="1"/>
          <p:nvPr/>
        </p:nvSpPr>
        <p:spPr>
          <a:xfrm>
            <a:off x="1943100" y="863600"/>
            <a:ext cx="2521585" cy="645160"/>
          </a:xfrm>
          <a:prstGeom prst="rect">
            <a:avLst/>
          </a:prstGeom>
          <a:noFill/>
        </p:spPr>
        <p:txBody>
          <a:bodyPr wrap="square" rtlCol="0">
            <a:spAutoFit/>
          </a:bodyPr>
          <a:p>
            <a:r>
              <a:rPr lang="en-US" altLang="zh-CN" b="1"/>
              <a:t>Algorithm Software Engineer (2014~2016)</a:t>
            </a:r>
            <a:endParaRPr lang="en-US" altLang="zh-CN" b="1"/>
          </a:p>
        </p:txBody>
      </p:sp>
      <p:sp>
        <p:nvSpPr>
          <p:cNvPr id="16" name="文本框 15"/>
          <p:cNvSpPr txBox="1"/>
          <p:nvPr/>
        </p:nvSpPr>
        <p:spPr>
          <a:xfrm>
            <a:off x="3920490" y="4133850"/>
            <a:ext cx="3662045" cy="368300"/>
          </a:xfrm>
          <a:prstGeom prst="rect">
            <a:avLst/>
          </a:prstGeom>
          <a:noFill/>
        </p:spPr>
        <p:txBody>
          <a:bodyPr wrap="square" rtlCol="0">
            <a:spAutoFit/>
          </a:bodyPr>
          <a:p>
            <a:r>
              <a:rPr lang="en-US" altLang="zh-CN" b="1"/>
              <a:t>Fullstack Technician (2016~2020)</a:t>
            </a:r>
            <a:endParaRPr lang="en-US" altLang="zh-CN" b="1"/>
          </a:p>
        </p:txBody>
      </p:sp>
      <p:sp>
        <p:nvSpPr>
          <p:cNvPr id="17" name="文本框 16"/>
          <p:cNvSpPr txBox="1"/>
          <p:nvPr/>
        </p:nvSpPr>
        <p:spPr>
          <a:xfrm>
            <a:off x="6456680" y="863600"/>
            <a:ext cx="2644775" cy="645160"/>
          </a:xfrm>
          <a:prstGeom prst="rect">
            <a:avLst/>
          </a:prstGeom>
          <a:noFill/>
        </p:spPr>
        <p:txBody>
          <a:bodyPr wrap="square" rtlCol="0">
            <a:spAutoFit/>
          </a:bodyPr>
          <a:p>
            <a:r>
              <a:rPr lang="en-US" altLang="zh-CN" b="1"/>
              <a:t>Software Development Engineer (2020~2024)</a:t>
            </a:r>
            <a:endParaRPr lang="en-US" altLang="zh-CN" b="1"/>
          </a:p>
        </p:txBody>
      </p:sp>
      <p:pic>
        <p:nvPicPr>
          <p:cNvPr id="18" name="图片 17" descr="3"/>
          <p:cNvPicPr>
            <a:picLocks noChangeAspect="1"/>
          </p:cNvPicPr>
          <p:nvPr/>
        </p:nvPicPr>
        <p:blipFill>
          <a:blip r:embed="rId1"/>
          <a:stretch>
            <a:fillRect/>
          </a:stretch>
        </p:blipFill>
        <p:spPr>
          <a:xfrm>
            <a:off x="636270" y="4564380"/>
            <a:ext cx="2280920" cy="1652270"/>
          </a:xfrm>
          <a:prstGeom prst="rect">
            <a:avLst/>
          </a:prstGeom>
        </p:spPr>
      </p:pic>
      <p:pic>
        <p:nvPicPr>
          <p:cNvPr id="19" name="图片 18"/>
          <p:cNvPicPr>
            <a:picLocks noChangeAspect="1"/>
          </p:cNvPicPr>
          <p:nvPr/>
        </p:nvPicPr>
        <p:blipFill>
          <a:blip r:embed="rId2"/>
          <a:stretch>
            <a:fillRect/>
          </a:stretch>
        </p:blipFill>
        <p:spPr>
          <a:xfrm>
            <a:off x="2158365" y="1487170"/>
            <a:ext cx="1969135" cy="1772920"/>
          </a:xfrm>
          <a:prstGeom prst="rect">
            <a:avLst/>
          </a:prstGeom>
        </p:spPr>
      </p:pic>
      <p:sp>
        <p:nvSpPr>
          <p:cNvPr id="23" name="爆炸形 1 22"/>
          <p:cNvSpPr/>
          <p:nvPr/>
        </p:nvSpPr>
        <p:spPr>
          <a:xfrm>
            <a:off x="746760" y="6196330"/>
            <a:ext cx="2170430" cy="576580"/>
          </a:xfrm>
          <a:prstGeom prst="irregularSeal1">
            <a:avLst/>
          </a:prstGeom>
          <a:gradFill>
            <a:gsLst>
              <a:gs pos="50000">
                <a:schemeClr val="accent4"/>
              </a:gs>
              <a:gs pos="0">
                <a:schemeClr val="accent4">
                  <a:lumMod val="25000"/>
                  <a:lumOff val="75000"/>
                </a:schemeClr>
              </a:gs>
              <a:gs pos="100000">
                <a:schemeClr val="accent4">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ym typeface="+mn-ea"/>
              </a:rPr>
              <a:t>2 Patents</a:t>
            </a:r>
            <a:endParaRPr kumimoji="1" lang="zh-CN" altLang="en-US"/>
          </a:p>
        </p:txBody>
      </p:sp>
      <p:sp>
        <p:nvSpPr>
          <p:cNvPr id="24" name="爆炸形 1 23"/>
          <p:cNvSpPr/>
          <p:nvPr/>
        </p:nvSpPr>
        <p:spPr>
          <a:xfrm>
            <a:off x="2158365" y="3056255"/>
            <a:ext cx="2170430" cy="576580"/>
          </a:xfrm>
          <a:prstGeom prst="irregularSeal1">
            <a:avLst/>
          </a:prstGeom>
          <a:gradFill>
            <a:gsLst>
              <a:gs pos="51300">
                <a:srgbClr val="FE5F4A"/>
              </a:gs>
              <a:gs pos="0">
                <a:srgbClr val="DF0303"/>
              </a:gs>
              <a:gs pos="100000">
                <a:srgbClr val="FEA06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ym typeface="+mn-ea"/>
              </a:rPr>
              <a:t>SOTA</a:t>
            </a:r>
            <a:endParaRPr kumimoji="1" lang="zh-CN" altLang="en-US"/>
          </a:p>
        </p:txBody>
      </p:sp>
      <p:pic>
        <p:nvPicPr>
          <p:cNvPr id="28" name="图片 27"/>
          <p:cNvPicPr>
            <a:picLocks noChangeAspect="1"/>
          </p:cNvPicPr>
          <p:nvPr/>
        </p:nvPicPr>
        <p:blipFill>
          <a:blip r:embed="rId3"/>
          <a:stretch>
            <a:fillRect/>
          </a:stretch>
        </p:blipFill>
        <p:spPr>
          <a:xfrm>
            <a:off x="4791710" y="4502150"/>
            <a:ext cx="1830070" cy="1935480"/>
          </a:xfrm>
          <a:prstGeom prst="rect">
            <a:avLst/>
          </a:prstGeom>
        </p:spPr>
      </p:pic>
      <p:sp>
        <p:nvSpPr>
          <p:cNvPr id="29" name="爆炸形 1 28"/>
          <p:cNvSpPr/>
          <p:nvPr/>
        </p:nvSpPr>
        <p:spPr>
          <a:xfrm>
            <a:off x="4451350" y="6216650"/>
            <a:ext cx="2170430" cy="576580"/>
          </a:xfrm>
          <a:prstGeom prst="irregularSeal1">
            <a:avLst/>
          </a:prstGeom>
          <a:gradFill>
            <a:gsLst>
              <a:gs pos="50000">
                <a:schemeClr val="accent4"/>
              </a:gs>
              <a:gs pos="0">
                <a:schemeClr val="accent4">
                  <a:lumMod val="25000"/>
                  <a:lumOff val="75000"/>
                </a:schemeClr>
              </a:gs>
              <a:gs pos="100000">
                <a:schemeClr val="accent4">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ym typeface="+mn-ea"/>
              </a:rPr>
              <a:t>2 Patents</a:t>
            </a:r>
            <a:endParaRPr kumimoji="1" lang="zh-CN" altLang="en-US"/>
          </a:p>
        </p:txBody>
      </p:sp>
      <p:pic>
        <p:nvPicPr>
          <p:cNvPr id="30" name="图片 29"/>
          <p:cNvPicPr>
            <a:picLocks noChangeAspect="1"/>
          </p:cNvPicPr>
          <p:nvPr/>
        </p:nvPicPr>
        <p:blipFill>
          <a:blip r:embed="rId4"/>
          <a:stretch>
            <a:fillRect/>
          </a:stretch>
        </p:blipFill>
        <p:spPr>
          <a:xfrm>
            <a:off x="5448935" y="1492885"/>
            <a:ext cx="2304415" cy="1761490"/>
          </a:xfrm>
          <a:prstGeom prst="rect">
            <a:avLst/>
          </a:prstGeom>
        </p:spPr>
      </p:pic>
      <p:sp>
        <p:nvSpPr>
          <p:cNvPr id="32" name="爆炸形 1 31"/>
          <p:cNvSpPr/>
          <p:nvPr/>
        </p:nvSpPr>
        <p:spPr>
          <a:xfrm>
            <a:off x="5582920" y="3056255"/>
            <a:ext cx="2170430" cy="576580"/>
          </a:xfrm>
          <a:prstGeom prst="irregularSeal1">
            <a:avLst/>
          </a:prstGeom>
          <a:gradFill>
            <a:gsLst>
              <a:gs pos="50000">
                <a:schemeClr val="accent4"/>
              </a:gs>
              <a:gs pos="0">
                <a:schemeClr val="accent4">
                  <a:lumMod val="25000"/>
                  <a:lumOff val="75000"/>
                </a:schemeClr>
              </a:gs>
              <a:gs pos="100000">
                <a:schemeClr val="accent4">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ym typeface="+mn-ea"/>
              </a:rPr>
              <a:t>6 Patents</a:t>
            </a:r>
            <a:endParaRPr kumimoji="1" lang="zh-CN" altLang="en-US"/>
          </a:p>
        </p:txBody>
      </p:sp>
      <p:pic>
        <p:nvPicPr>
          <p:cNvPr id="33" name="图片 32"/>
          <p:cNvPicPr>
            <a:picLocks noChangeAspect="1"/>
          </p:cNvPicPr>
          <p:nvPr/>
        </p:nvPicPr>
        <p:blipFill>
          <a:blip r:embed="rId5"/>
          <a:stretch>
            <a:fillRect/>
          </a:stretch>
        </p:blipFill>
        <p:spPr>
          <a:xfrm>
            <a:off x="7856855" y="1498600"/>
            <a:ext cx="3061970" cy="1761490"/>
          </a:xfrm>
          <a:prstGeom prst="rect">
            <a:avLst/>
          </a:prstGeom>
        </p:spPr>
      </p:pic>
      <p:sp>
        <p:nvSpPr>
          <p:cNvPr id="31" name="爆炸形 1 30"/>
          <p:cNvSpPr/>
          <p:nvPr/>
        </p:nvSpPr>
        <p:spPr>
          <a:xfrm>
            <a:off x="8197215" y="3056255"/>
            <a:ext cx="2170430" cy="576580"/>
          </a:xfrm>
          <a:prstGeom prst="irregularSeal1">
            <a:avLst/>
          </a:prstGeom>
          <a:gradFill>
            <a:gsLst>
              <a:gs pos="51300">
                <a:srgbClr val="FE5F4A"/>
              </a:gs>
              <a:gs pos="0">
                <a:srgbClr val="DF0303"/>
              </a:gs>
              <a:gs pos="100000">
                <a:srgbClr val="FEA06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ym typeface="+mn-ea"/>
              </a:rPr>
              <a:t>SOTA</a:t>
            </a:r>
            <a:endParaRPr kumimoji="1" lang="zh-CN" altLang="en-US"/>
          </a:p>
        </p:txBody>
      </p:sp>
      <p:pic>
        <p:nvPicPr>
          <p:cNvPr id="34" name="图片 30" descr="Supercell_1"/>
          <p:cNvPicPr>
            <a:picLocks noChangeAspect="1"/>
          </p:cNvPicPr>
          <p:nvPr/>
        </p:nvPicPr>
        <p:blipFill>
          <a:blip r:embed="rId6"/>
          <a:srcRect t="4163" r="-361"/>
          <a:stretch>
            <a:fillRect/>
          </a:stretch>
        </p:blipFill>
        <p:spPr>
          <a:xfrm>
            <a:off x="7753350" y="4576445"/>
            <a:ext cx="3295015" cy="1775460"/>
          </a:xfrm>
          <a:prstGeom prst="rect">
            <a:avLst/>
          </a:prstGeom>
        </p:spPr>
      </p:pic>
      <p:sp>
        <p:nvSpPr>
          <p:cNvPr id="35" name="爆炸形 1 34"/>
          <p:cNvSpPr/>
          <p:nvPr/>
        </p:nvSpPr>
        <p:spPr>
          <a:xfrm>
            <a:off x="8324215" y="6216650"/>
            <a:ext cx="2170430" cy="576580"/>
          </a:xfrm>
          <a:prstGeom prst="irregularSeal1">
            <a:avLst/>
          </a:prstGeom>
          <a:gradFill>
            <a:gsLst>
              <a:gs pos="51300">
                <a:srgbClr val="FE5F4A"/>
              </a:gs>
              <a:gs pos="0">
                <a:srgbClr val="DF0303"/>
              </a:gs>
              <a:gs pos="100000">
                <a:srgbClr val="FEA06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ym typeface="+mn-ea"/>
              </a:rPr>
              <a:t>SOTA</a:t>
            </a:r>
            <a:endParaRPr kumimoji="1"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linds(horizontal)">
                                      <p:cBhvr>
                                        <p:cTn id="15" dur="500"/>
                                        <p:tgtEl>
                                          <p:spTgt spid="1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linds(horizontal)">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blinds(horizontal)">
                                      <p:cBhvr>
                                        <p:cTn id="23" dur="500"/>
                                        <p:tgtEl>
                                          <p:spTgt spid="28"/>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linds(horizontal)">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linds(horizontal)">
                                      <p:cBhvr>
                                        <p:cTn id="31" dur="500"/>
                                        <p:tgtEl>
                                          <p:spTgt spid="30"/>
                                        </p:tgtEl>
                                      </p:cBhvr>
                                    </p:animEffect>
                                  </p:childTnLst>
                                </p:cTn>
                              </p:par>
                              <p:par>
                                <p:cTn id="32" presetID="3" presetClass="entr" presetSubtype="10" fill="hold"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blinds(horizontal)">
                                      <p:cBhvr>
                                        <p:cTn id="34" dur="500"/>
                                        <p:tgtEl>
                                          <p:spTgt spid="33"/>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linds(horizontal)">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blinds(horizontal)">
                                      <p:cBhvr>
                                        <p:cTn id="42" dur="500"/>
                                        <p:tgtEl>
                                          <p:spTgt spid="14"/>
                                        </p:tgtEl>
                                      </p:cBhvr>
                                    </p:animEffect>
                                  </p:childTnLst>
                                </p:cTn>
                              </p:par>
                              <p:par>
                                <p:cTn id="43" presetID="3" presetClass="entr" presetSubtype="1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blinds(horizontal)">
                                      <p:cBhvr>
                                        <p:cTn id="45" dur="50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P spid="14" grpId="0"/>
      <p:bldP spid="24" grpId="0" animBg="1"/>
      <p:bldP spid="23" grpId="0" animBg="1"/>
      <p:bldP spid="29" grpId="0" animBg="1"/>
      <p:bldP spid="32" grpId="0" animBg="1"/>
      <p:bldP spid="31" grpId="0" animBg="1"/>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线连接符 5"/>
          <p:cNvCxnSpPr/>
          <p:nvPr/>
        </p:nvCxnSpPr>
        <p:spPr>
          <a:xfrm>
            <a:off x="2579572" y="2598701"/>
            <a:ext cx="0" cy="1965397"/>
          </a:xfrm>
          <a:prstGeom prst="line">
            <a:avLst/>
          </a:prstGeom>
          <a:ln w="28575">
            <a:solidFill>
              <a:schemeClr val="accent1">
                <a:alpha val="67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254132" y="3736631"/>
            <a:ext cx="8292417" cy="645160"/>
          </a:xfrm>
          <a:prstGeom prst="rect">
            <a:avLst/>
          </a:prstGeom>
          <a:noFill/>
        </p:spPr>
        <p:txBody>
          <a:bodyPr wrap="square" rtlCol="0">
            <a:spAutoFit/>
          </a:bodyPr>
          <a:lstStyle/>
          <a:p>
            <a:r>
              <a:rPr kumimoji="1" lang="en-US" altLang="zh-CN" sz="36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mn-ea"/>
              </a:rPr>
              <a:t>Representative </a:t>
            </a:r>
            <a:r>
              <a:rPr kumimoji="1" lang="en-US" altLang="en-GB" sz="36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mn-ea"/>
              </a:rPr>
              <a:t>Projects</a:t>
            </a:r>
            <a:endParaRPr kumimoji="1" lang="en-GB" altLang="zh-CN" sz="36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3254132" y="2749966"/>
            <a:ext cx="6098582" cy="768350"/>
          </a:xfrm>
          <a:prstGeom prst="rect">
            <a:avLst/>
          </a:prstGeom>
          <a:noFill/>
        </p:spPr>
        <p:txBody>
          <a:bodyPr wrap="square">
            <a:spAutoFit/>
          </a:bodyPr>
          <a:lstStyle/>
          <a:p>
            <a:r>
              <a:rPr kumimoji="1" lang="en-US" altLang="zh-CN" sz="4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03. </a:t>
            </a:r>
            <a:endParaRPr lang="zh-CN" altLang="en-US" sz="4400" dirty="0">
              <a:solidFill>
                <a:schemeClr val="accent1"/>
              </a:solidFill>
            </a:endParaRPr>
          </a:p>
        </p:txBody>
      </p:sp>
      <p:sp>
        <p:nvSpPr>
          <p:cNvPr id="14" name="灯片编号占位符 2"/>
          <p:cNvSpPr>
            <a:spLocks noGrp="1"/>
          </p:cNvSpPr>
          <p:nvPr>
            <p:ph type="sldNum" sz="quarter" idx="12"/>
          </p:nvPr>
        </p:nvSpPr>
        <p:spPr>
          <a:xfrm>
            <a:off x="11576529" y="6127750"/>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2" name="矩形 1"/>
          <p:cNvSpPr/>
          <p:nvPr/>
        </p:nvSpPr>
        <p:spPr>
          <a:xfrm>
            <a:off x="-1" y="1"/>
            <a:ext cx="12191999"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p:cNvSpPr/>
          <p:nvPr/>
        </p:nvSpPr>
        <p:spPr>
          <a:xfrm>
            <a:off x="-1" y="6492875"/>
            <a:ext cx="12191999"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000" y="180340"/>
            <a:ext cx="7995920"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Face Detection &amp; Traction &amp; Gender Detection</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pic>
        <p:nvPicPr>
          <p:cNvPr id="8" name="图片 7" descr="2"/>
          <p:cNvPicPr>
            <a:picLocks noChangeAspect="1"/>
          </p:cNvPicPr>
          <p:nvPr/>
        </p:nvPicPr>
        <p:blipFill>
          <a:blip r:embed="rId1"/>
          <a:stretch>
            <a:fillRect/>
          </a:stretch>
        </p:blipFill>
        <p:spPr>
          <a:xfrm>
            <a:off x="1974850" y="1134745"/>
            <a:ext cx="7736840" cy="5604510"/>
          </a:xfrm>
          <a:prstGeom prst="rect">
            <a:avLst/>
          </a:prstGeom>
        </p:spPr>
      </p:pic>
      <p:pic>
        <p:nvPicPr>
          <p:cNvPr id="9" name="图片 8" descr="3"/>
          <p:cNvPicPr>
            <a:picLocks noChangeAspect="1"/>
          </p:cNvPicPr>
          <p:nvPr/>
        </p:nvPicPr>
        <p:blipFill>
          <a:blip r:embed="rId2"/>
          <a:stretch>
            <a:fillRect/>
          </a:stretch>
        </p:blipFill>
        <p:spPr>
          <a:xfrm>
            <a:off x="1974850" y="1134745"/>
            <a:ext cx="7736205" cy="5603240"/>
          </a:xfrm>
          <a:prstGeom prst="rect">
            <a:avLst/>
          </a:prstGeom>
        </p:spPr>
      </p:pic>
      <p:pic>
        <p:nvPicPr>
          <p:cNvPr id="17" name="图片 16" descr="ad1"/>
          <p:cNvPicPr>
            <a:picLocks noChangeAspect="1"/>
          </p:cNvPicPr>
          <p:nvPr/>
        </p:nvPicPr>
        <p:blipFill>
          <a:blip r:embed="rId3"/>
          <a:stretch>
            <a:fillRect/>
          </a:stretch>
        </p:blipFill>
        <p:spPr>
          <a:xfrm rot="20040000">
            <a:off x="9692005" y="2030730"/>
            <a:ext cx="2296160" cy="1459865"/>
          </a:xfrm>
          <a:prstGeom prst="rect">
            <a:avLst/>
          </a:prstGeom>
        </p:spPr>
      </p:pic>
      <p:pic>
        <p:nvPicPr>
          <p:cNvPr id="19" name="图片 18" descr="ad2"/>
          <p:cNvPicPr>
            <a:picLocks noChangeAspect="1"/>
          </p:cNvPicPr>
          <p:nvPr/>
        </p:nvPicPr>
        <p:blipFill>
          <a:blip r:embed="rId4"/>
          <a:stretch>
            <a:fillRect/>
          </a:stretch>
        </p:blipFill>
        <p:spPr>
          <a:xfrm rot="840000">
            <a:off x="9455150" y="4806950"/>
            <a:ext cx="2601595" cy="1437640"/>
          </a:xfrm>
          <a:prstGeom prst="rect">
            <a:avLst/>
          </a:prstGeom>
        </p:spPr>
      </p:pic>
      <p:sp>
        <p:nvSpPr>
          <p:cNvPr id="16" name="爆炸形 1 15"/>
          <p:cNvSpPr/>
          <p:nvPr/>
        </p:nvSpPr>
        <p:spPr>
          <a:xfrm>
            <a:off x="0" y="1134745"/>
            <a:ext cx="2431415" cy="200279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Advertising Attention Statistics</a:t>
            </a:r>
            <a:endParaRPr lang="en-US" altLang="zh-C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blinds(horizontal)">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500" fill="hold"/>
                                        <p:tgtEl>
                                          <p:spTgt spid="17"/>
                                        </p:tgtEl>
                                        <p:attrNameLst>
                                          <p:attrName>ppt_x</p:attrName>
                                        </p:attrNameLst>
                                      </p:cBhvr>
                                      <p:tavLst>
                                        <p:tav tm="0">
                                          <p:val>
                                            <p:strVal val="#ppt_x"/>
                                          </p:val>
                                        </p:tav>
                                        <p:tav tm="100000">
                                          <p:val>
                                            <p:strVal val="#ppt_x"/>
                                          </p:val>
                                        </p:tav>
                                      </p:tavLst>
                                    </p:anim>
                                    <p:anim calcmode="lin" valueType="num">
                                      <p:cBhvr additive="base">
                                        <p:cTn id="17" dur="500" fill="hold"/>
                                        <p:tgtEl>
                                          <p:spTgt spid="17"/>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additive="base">
                                        <p:cTn id="20" dur="500" fill="hold"/>
                                        <p:tgtEl>
                                          <p:spTgt spid="19"/>
                                        </p:tgtEl>
                                        <p:attrNameLst>
                                          <p:attrName>ppt_x</p:attrName>
                                        </p:attrNameLst>
                                      </p:cBhvr>
                                      <p:tavLst>
                                        <p:tav tm="0">
                                          <p:val>
                                            <p:strVal val="#ppt_x"/>
                                          </p:val>
                                        </p:tav>
                                        <p:tav tm="100000">
                                          <p:val>
                                            <p:strVal val="#ppt_x"/>
                                          </p:val>
                                        </p:tav>
                                      </p:tavLst>
                                    </p:anim>
                                    <p:anim calcmode="lin" valueType="num">
                                      <p:cBhvr additive="base">
                                        <p:cTn id="2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lang="en-US" sz="2800" b="1">
                <a:solidFill>
                  <a:schemeClr val="bg1"/>
                </a:solidFill>
                <a:sym typeface="+mn-ea"/>
              </a:rPr>
              <a:t>Classification (Gender Detection)</a:t>
            </a:r>
            <a:endParaRPr kumimoji="1" lang="en-GB"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24" name="圆角矩形 23"/>
          <p:cNvSpPr/>
          <p:nvPr/>
        </p:nvSpPr>
        <p:spPr>
          <a:xfrm>
            <a:off x="4826000" y="1470660"/>
            <a:ext cx="7070725" cy="43160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a:r>
              <a:rPr lang="en-US" altLang="zh-CN" sz="1600"/>
              <a:t>// Convert Image to gray if necessary</a:t>
            </a:r>
            <a:endParaRPr lang="en-US" altLang="zh-CN" sz="1600"/>
          </a:p>
          <a:p>
            <a:pPr lvl="1" algn="l"/>
            <a:endParaRPr lang="en-US" altLang="zh-CN" sz="1600"/>
          </a:p>
          <a:p>
            <a:pPr lvl="1" algn="l"/>
            <a:r>
              <a:rPr lang="en-US" altLang="zh-CN" sz="1600"/>
              <a:t>// A = flatten 2D-face image</a:t>
            </a:r>
            <a:endParaRPr lang="en-US" altLang="zh-CN" sz="1600"/>
          </a:p>
          <a:p>
            <a:pPr lvl="1" algn="l"/>
            <a:endParaRPr lang="en-US" altLang="zh-CN" sz="1600"/>
          </a:p>
          <a:p>
            <a:pPr lvl="1" algn="l"/>
            <a:r>
              <a:rPr lang="en-US" altLang="zh-CN" sz="1600"/>
              <a:t>// [1, 4096] x [4096, 30]</a:t>
            </a:r>
            <a:r>
              <a:rPr lang="en-US" altLang="zh-CN" sz="1600">
                <a:solidFill>
                  <a:srgbClr val="FFFF00"/>
                </a:solidFill>
              </a:rPr>
              <a:t>(param0[4096][30])</a:t>
            </a:r>
            <a:r>
              <a:rPr lang="en-US" altLang="zh-CN" sz="1600"/>
              <a:t> = [1, 30]</a:t>
            </a:r>
            <a:endParaRPr lang="en-US" altLang="zh-CN" sz="1600"/>
          </a:p>
          <a:p>
            <a:pPr lvl="1" algn="l"/>
            <a:endParaRPr lang="en-US" altLang="zh-CN" sz="1600"/>
          </a:p>
          <a:p>
            <a:pPr lvl="1" algn="l"/>
            <a:r>
              <a:rPr lang="en-US" altLang="zh-CN" sz="1600"/>
              <a:t>// find max &amp; min</a:t>
            </a:r>
            <a:endParaRPr lang="en-US" altLang="zh-CN" sz="1600"/>
          </a:p>
          <a:p>
            <a:pPr lvl="1" algn="l"/>
            <a:endParaRPr lang="en-US" altLang="zh-CN" sz="1600"/>
          </a:p>
          <a:p>
            <a:pPr lvl="1" algn="l"/>
            <a:r>
              <a:rPr lang="en-US" altLang="zh-CN" sz="1600"/>
              <a:t>// normalization</a:t>
            </a:r>
            <a:r>
              <a:rPr lang="en-US" altLang="zh-CN" sz="1600">
                <a:solidFill>
                  <a:srgbClr val="00B0F0"/>
                </a:solidFill>
              </a:rPr>
              <a:t>(to [0, 1.000])</a:t>
            </a:r>
            <a:endParaRPr lang="en-US" altLang="zh-CN" sz="1600"/>
          </a:p>
          <a:p>
            <a:pPr lvl="1" algn="l"/>
            <a:endParaRPr lang="en-US" altLang="zh-CN" sz="1600"/>
          </a:p>
          <a:p>
            <a:pPr lvl="1" algn="l"/>
            <a:r>
              <a:rPr lang="en-US" altLang="zh-CN" sz="1600"/>
              <a:t>// [1, 30]</a:t>
            </a:r>
            <a:r>
              <a:rPr lang="en-US" altLang="zh-CN" sz="1600">
                <a:solidFill>
                  <a:srgbClr val="00B0F0"/>
                </a:solidFill>
              </a:rPr>
              <a:t>(</a:t>
            </a:r>
            <a:r>
              <a:rPr lang="en-US" altLang="zh-CN" sz="1600">
                <a:solidFill>
                  <a:srgbClr val="00B0F0"/>
                </a:solidFill>
                <a:sym typeface="+mn-ea"/>
              </a:rPr>
              <a:t>Sigmoid</a:t>
            </a:r>
            <a:r>
              <a:rPr lang="en-US" altLang="zh-CN" sz="1600">
                <a:solidFill>
                  <a:srgbClr val="00B0F0"/>
                </a:solidFill>
              </a:rPr>
              <a:t>)</a:t>
            </a:r>
            <a:r>
              <a:rPr lang="en-US" altLang="zh-CN" sz="1600"/>
              <a:t> x [30, 10](</a:t>
            </a:r>
            <a:r>
              <a:rPr lang="en-US" altLang="zh-CN" sz="1600">
                <a:solidFill>
                  <a:srgbClr val="FFFF00"/>
                </a:solidFill>
                <a:sym typeface="+mn-ea"/>
              </a:rPr>
              <a:t>param1</a:t>
            </a:r>
            <a:r>
              <a:rPr lang="en-US" altLang="zh-CN" sz="1600">
                <a:solidFill>
                  <a:srgbClr val="FFFF00"/>
                </a:solidFill>
              </a:rPr>
              <a:t>[30][10]</a:t>
            </a:r>
            <a:r>
              <a:rPr lang="en-US" altLang="zh-CN" sz="1600"/>
              <a:t>) = [1, 10]</a:t>
            </a:r>
            <a:endParaRPr lang="en-US" altLang="zh-CN" sz="1600"/>
          </a:p>
          <a:p>
            <a:pPr lvl="1" algn="l"/>
            <a:endParaRPr lang="en-US" altLang="zh-CN" sz="1600"/>
          </a:p>
          <a:p>
            <a:pPr lvl="1" algn="l"/>
            <a:r>
              <a:rPr lang="en-US" altLang="zh-CN" sz="1600"/>
              <a:t>// [1, 10] x [10, 1](</a:t>
            </a:r>
            <a:r>
              <a:rPr lang="en-US" altLang="zh-CN" sz="1600">
                <a:solidFill>
                  <a:srgbClr val="FFFF00"/>
                </a:solidFill>
                <a:sym typeface="+mn-ea"/>
              </a:rPr>
              <a:t>param2</a:t>
            </a:r>
            <a:r>
              <a:rPr lang="en-US" altLang="zh-CN" sz="1600">
                <a:solidFill>
                  <a:srgbClr val="FFFF00"/>
                </a:solidFill>
              </a:rPr>
              <a:t>[10]</a:t>
            </a:r>
            <a:r>
              <a:rPr lang="en-US" altLang="zh-CN" sz="1600"/>
              <a:t>) = scalar ( thresh = 0.5 )</a:t>
            </a:r>
            <a:endParaRPr lang="en-US" altLang="zh-CN" sz="1600"/>
          </a:p>
        </p:txBody>
      </p:sp>
      <p:graphicFrame>
        <p:nvGraphicFramePr>
          <p:cNvPr id="28" name="对象 27"/>
          <p:cNvGraphicFramePr/>
          <p:nvPr/>
        </p:nvGraphicFramePr>
        <p:xfrm>
          <a:off x="323850" y="1969770"/>
          <a:ext cx="4298950" cy="1772920"/>
        </p:xfrm>
        <a:graphic>
          <a:graphicData uri="http://schemas.openxmlformats.org/presentationml/2006/ole">
            <mc:AlternateContent xmlns:mc="http://schemas.openxmlformats.org/markup-compatibility/2006">
              <mc:Choice xmlns:v="urn:schemas-microsoft-com:vml" Requires="v">
                <p:oleObj spid="_x0000_s29" name="" r:id="rId1" imgW="4295775" imgH="1771650" progId="Paint.Picture">
                  <p:embed/>
                </p:oleObj>
              </mc:Choice>
              <mc:Fallback>
                <p:oleObj name="" r:id="rId1" imgW="4295775" imgH="1771650" progId="Paint.Picture">
                  <p:embed/>
                  <p:pic>
                    <p:nvPicPr>
                      <p:cNvPr id="0" name="图片 10"/>
                      <p:cNvPicPr/>
                      <p:nvPr/>
                    </p:nvPicPr>
                    <p:blipFill>
                      <a:blip r:embed="rId2"/>
                      <a:stretch>
                        <a:fillRect/>
                      </a:stretch>
                    </p:blipFill>
                    <p:spPr>
                      <a:xfrm>
                        <a:off x="323850" y="1969770"/>
                        <a:ext cx="4298950" cy="1772920"/>
                      </a:xfrm>
                      <a:prstGeom prst="rect">
                        <a:avLst/>
                      </a:prstGeom>
                    </p:spPr>
                  </p:pic>
                </p:oleObj>
              </mc:Fallback>
            </mc:AlternateContent>
          </a:graphicData>
        </a:graphic>
      </p:graphicFrame>
      <p:pic>
        <p:nvPicPr>
          <p:cNvPr id="32" name="图片 31"/>
          <p:cNvPicPr>
            <a:picLocks noChangeAspect="1"/>
          </p:cNvPicPr>
          <p:nvPr/>
        </p:nvPicPr>
        <p:blipFill>
          <a:blip r:embed="rId3"/>
          <a:stretch>
            <a:fillRect/>
          </a:stretch>
        </p:blipFill>
        <p:spPr>
          <a:xfrm>
            <a:off x="9145905" y="3429000"/>
            <a:ext cx="2430780" cy="914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2"/>
                                        </p:tgtEl>
                                      </p:cBhvr>
                                    </p:animEffect>
                                    <p:set>
                                      <p:cBhvr>
                                        <p:cTn id="12"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lang="en-US" sz="2800" b="1">
                <a:solidFill>
                  <a:schemeClr val="bg1"/>
                </a:solidFill>
                <a:sym typeface="+mn-ea"/>
              </a:rPr>
              <a:t>Barcode Detection (</a:t>
            </a:r>
            <a:r>
              <a:rPr lang="en-US" altLang="zh-CN" sz="2800" b="1">
                <a:solidFill>
                  <a:schemeClr val="bg1"/>
                </a:solidFill>
                <a:sym typeface="+mn-ea"/>
              </a:rPr>
              <a:t>Blob Analysis</a:t>
            </a:r>
            <a:r>
              <a:rPr lang="en-US" sz="2800" b="1">
                <a:solidFill>
                  <a:schemeClr val="bg1"/>
                </a:solidFill>
                <a:sym typeface="+mn-ea"/>
              </a:rPr>
              <a:t>)</a:t>
            </a:r>
            <a:endParaRPr kumimoji="1" lang="en-GB"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9222" name="文本框 9221"/>
          <p:cNvSpPr txBox="1"/>
          <p:nvPr/>
        </p:nvSpPr>
        <p:spPr>
          <a:xfrm>
            <a:off x="962025" y="2378075"/>
            <a:ext cx="2668270" cy="429895"/>
          </a:xfrm>
          <a:prstGeom prst="rect">
            <a:avLst/>
          </a:prstGeom>
          <a:noFill/>
          <a:ln w="9525">
            <a:noFill/>
          </a:ln>
        </p:spPr>
        <p:txBody>
          <a:bodyPr wrap="none">
            <a:spAutoFit/>
          </a:bodyPr>
          <a:p>
            <a:r>
              <a:rPr lang="zh-CN" altLang="en-US" sz="2200" dirty="0">
                <a:latin typeface="微软雅黑" panose="020B0503020204020204" pitchFamily="34" charset="-122"/>
                <a:ea typeface="微软雅黑" panose="020B0503020204020204" pitchFamily="34" charset="-122"/>
              </a:rPr>
              <a:t>(1) </a:t>
            </a:r>
            <a:r>
              <a:rPr lang="en-US" altLang="zh-CN" sz="2200" dirty="0">
                <a:latin typeface="微软雅黑" panose="020B0503020204020204" pitchFamily="34" charset="-122"/>
                <a:ea typeface="微软雅黑" panose="020B0503020204020204" pitchFamily="34" charset="-122"/>
              </a:rPr>
              <a:t>Edge Detection</a:t>
            </a:r>
            <a:endParaRPr lang="en-US" altLang="zh-CN" sz="2200" dirty="0">
              <a:latin typeface="微软雅黑" panose="020B0503020204020204" pitchFamily="34" charset="-122"/>
              <a:ea typeface="微软雅黑" panose="020B0503020204020204" pitchFamily="34" charset="-122"/>
            </a:endParaRPr>
          </a:p>
        </p:txBody>
      </p:sp>
      <p:sp>
        <p:nvSpPr>
          <p:cNvPr id="9223" name="文本框 9222"/>
          <p:cNvSpPr txBox="1"/>
          <p:nvPr/>
        </p:nvSpPr>
        <p:spPr>
          <a:xfrm>
            <a:off x="960120" y="3391535"/>
            <a:ext cx="2613025" cy="429895"/>
          </a:xfrm>
          <a:prstGeom prst="rect">
            <a:avLst/>
          </a:prstGeom>
          <a:noFill/>
          <a:ln w="9525">
            <a:noFill/>
          </a:ln>
        </p:spPr>
        <p:txBody>
          <a:bodyPr wrap="none">
            <a:spAutoFit/>
          </a:bodyPr>
          <a:p>
            <a:r>
              <a:rPr lang="zh-CN" altLang="en-US" sz="2200" dirty="0">
                <a:latin typeface="微软雅黑" panose="020B0503020204020204" pitchFamily="34" charset="-122"/>
                <a:ea typeface="微软雅黑" panose="020B0503020204020204" pitchFamily="34" charset="-122"/>
              </a:rPr>
              <a:t>(2) </a:t>
            </a:r>
            <a:r>
              <a:rPr lang="en-US" altLang="zh-CN" sz="2200" dirty="0">
                <a:latin typeface="微软雅黑" panose="020B0503020204020204" pitchFamily="34" charset="-122"/>
                <a:ea typeface="微软雅黑" panose="020B0503020204020204" pitchFamily="34" charset="-122"/>
              </a:rPr>
              <a:t>Filtering Target</a:t>
            </a:r>
            <a:endParaRPr lang="en-US" altLang="zh-CN" sz="2200" dirty="0">
              <a:latin typeface="微软雅黑" panose="020B0503020204020204" pitchFamily="34" charset="-122"/>
              <a:ea typeface="微软雅黑" panose="020B0503020204020204" pitchFamily="34" charset="-122"/>
            </a:endParaRPr>
          </a:p>
        </p:txBody>
      </p:sp>
      <p:graphicFrame>
        <p:nvGraphicFramePr>
          <p:cNvPr id="9224" name="对象 9223"/>
          <p:cNvGraphicFramePr/>
          <p:nvPr/>
        </p:nvGraphicFramePr>
        <p:xfrm>
          <a:off x="5918200" y="1629410"/>
          <a:ext cx="5548313" cy="3670300"/>
        </p:xfrm>
        <a:graphic>
          <a:graphicData uri="http://schemas.openxmlformats.org/presentationml/2006/ole">
            <mc:AlternateContent xmlns:mc="http://schemas.openxmlformats.org/markup-compatibility/2006">
              <mc:Choice xmlns:v="urn:schemas-microsoft-com:vml" Requires="v">
                <p:oleObj spid="_x0000_s3084" name="" r:id="rId1" imgW="5543550" imgH="3667125" progId="PBrush">
                  <p:embed/>
                </p:oleObj>
              </mc:Choice>
              <mc:Fallback>
                <p:oleObj name="" r:id="rId1" imgW="5543550" imgH="3667125" progId="PBrush">
                  <p:embed/>
                  <p:pic>
                    <p:nvPicPr>
                      <p:cNvPr id="0" name="图片 3083"/>
                      <p:cNvPicPr/>
                      <p:nvPr/>
                    </p:nvPicPr>
                    <p:blipFill>
                      <a:blip r:embed="rId2"/>
                      <a:stretch>
                        <a:fillRect/>
                      </a:stretch>
                    </p:blipFill>
                    <p:spPr>
                      <a:xfrm>
                        <a:off x="5918200" y="1629410"/>
                        <a:ext cx="5548313" cy="3670300"/>
                      </a:xfrm>
                      <a:prstGeom prst="rect">
                        <a:avLst/>
                      </a:prstGeom>
                      <a:noFill/>
                      <a:ln w="38100">
                        <a:noFill/>
                        <a:miter/>
                      </a:ln>
                    </p:spPr>
                  </p:pic>
                </p:oleObj>
              </mc:Fallback>
            </mc:AlternateContent>
          </a:graphicData>
        </a:graphic>
      </p:graphicFrame>
      <p:graphicFrame>
        <p:nvGraphicFramePr>
          <p:cNvPr id="9225" name="对象 9224"/>
          <p:cNvGraphicFramePr/>
          <p:nvPr/>
        </p:nvGraphicFramePr>
        <p:xfrm>
          <a:off x="5918200" y="1704023"/>
          <a:ext cx="5548313" cy="3668712"/>
        </p:xfrm>
        <a:graphic>
          <a:graphicData uri="http://schemas.openxmlformats.org/presentationml/2006/ole">
            <mc:AlternateContent xmlns:mc="http://schemas.openxmlformats.org/markup-compatibility/2006">
              <mc:Choice xmlns:v="urn:schemas-microsoft-com:vml" Requires="v">
                <p:oleObj spid="_x0000_s3085" name="" r:id="rId3" imgW="5543550" imgH="3667125" progId="PBrush">
                  <p:embed/>
                </p:oleObj>
              </mc:Choice>
              <mc:Fallback>
                <p:oleObj name="" r:id="rId3" imgW="5543550" imgH="3667125" progId="PBrush">
                  <p:embed/>
                  <p:pic>
                    <p:nvPicPr>
                      <p:cNvPr id="0" name="图片 3084"/>
                      <p:cNvPicPr/>
                      <p:nvPr/>
                    </p:nvPicPr>
                    <p:blipFill>
                      <a:blip r:embed="rId4"/>
                      <a:stretch>
                        <a:fillRect/>
                      </a:stretch>
                    </p:blipFill>
                    <p:spPr>
                      <a:xfrm>
                        <a:off x="5918200" y="1704023"/>
                        <a:ext cx="5548313" cy="3668712"/>
                      </a:xfrm>
                      <a:prstGeom prst="rect">
                        <a:avLst/>
                      </a:prstGeom>
                      <a:noFill/>
                      <a:ln w="38100">
                        <a:noFill/>
                        <a:miter/>
                      </a:ln>
                    </p:spPr>
                  </p:pic>
                </p:oleObj>
              </mc:Fallback>
            </mc:AlternateContent>
          </a:graphicData>
        </a:graphic>
      </p:graphicFrame>
      <p:graphicFrame>
        <p:nvGraphicFramePr>
          <p:cNvPr id="9226" name="对象 9225"/>
          <p:cNvGraphicFramePr/>
          <p:nvPr/>
        </p:nvGraphicFramePr>
        <p:xfrm>
          <a:off x="5918200" y="1705610"/>
          <a:ext cx="5548313" cy="3670300"/>
        </p:xfrm>
        <a:graphic>
          <a:graphicData uri="http://schemas.openxmlformats.org/presentationml/2006/ole">
            <mc:AlternateContent xmlns:mc="http://schemas.openxmlformats.org/markup-compatibility/2006">
              <mc:Choice xmlns:v="urn:schemas-microsoft-com:vml" Requires="v">
                <p:oleObj spid="_x0000_s3086" name="" r:id="rId5" imgW="5543550" imgH="3667125" progId="PBrush">
                  <p:embed/>
                </p:oleObj>
              </mc:Choice>
              <mc:Fallback>
                <p:oleObj name="" r:id="rId5" imgW="5543550" imgH="3667125" progId="PBrush">
                  <p:embed/>
                  <p:pic>
                    <p:nvPicPr>
                      <p:cNvPr id="0" name="图片 3085"/>
                      <p:cNvPicPr/>
                      <p:nvPr/>
                    </p:nvPicPr>
                    <p:blipFill>
                      <a:blip r:embed="rId6"/>
                      <a:stretch>
                        <a:fillRect/>
                      </a:stretch>
                    </p:blipFill>
                    <p:spPr>
                      <a:xfrm>
                        <a:off x="5918200" y="1705610"/>
                        <a:ext cx="5548313" cy="3670300"/>
                      </a:xfrm>
                      <a:prstGeom prst="rect">
                        <a:avLst/>
                      </a:prstGeom>
                      <a:noFill/>
                      <a:ln w="38100">
                        <a:noFill/>
                        <a:miter/>
                      </a:ln>
                    </p:spPr>
                  </p:pic>
                </p:oleObj>
              </mc:Fallback>
            </mc:AlternateContent>
          </a:graphicData>
        </a:graphic>
      </p:graphicFrame>
      <p:sp>
        <p:nvSpPr>
          <p:cNvPr id="9228" name="文本框 9227"/>
          <p:cNvSpPr txBox="1"/>
          <p:nvPr/>
        </p:nvSpPr>
        <p:spPr>
          <a:xfrm>
            <a:off x="614998" y="1379855"/>
            <a:ext cx="4048125" cy="521970"/>
          </a:xfrm>
          <a:prstGeom prst="rect">
            <a:avLst/>
          </a:prstGeom>
          <a:noFill/>
          <a:ln w="9525">
            <a:noFill/>
          </a:ln>
        </p:spPr>
        <p:txBody>
          <a:bodyPr wrap="none">
            <a:spAutoFit/>
          </a:bodyPr>
          <a:p>
            <a:r>
              <a:rPr lang="zh-CN" altLang="en-US" sz="2800" dirty="0">
                <a:latin typeface="微软雅黑" panose="020B0503020204020204" pitchFamily="34" charset="-122"/>
                <a:ea typeface="微软雅黑" panose="020B0503020204020204" pitchFamily="34" charset="-122"/>
              </a:rPr>
              <a:t>Canny</a:t>
            </a:r>
            <a:r>
              <a:rPr lang="en-US" altLang="zh-CN" sz="2800" dirty="0">
                <a:latin typeface="微软雅黑" panose="020B0503020204020204" pitchFamily="34" charset="-122"/>
                <a:ea typeface="微软雅黑" panose="020B0503020204020204" pitchFamily="34" charset="-122"/>
              </a:rPr>
              <a:t> Edge Detection:</a:t>
            </a:r>
            <a:endParaRPr lang="zh-CN" altLang="en-US" sz="2800" dirty="0">
              <a:latin typeface="微软雅黑" panose="020B0503020204020204" pitchFamily="34" charset="-122"/>
              <a:ea typeface="微软雅黑" panose="020B0503020204020204" pitchFamily="34" charset="-122"/>
            </a:endParaRPr>
          </a:p>
        </p:txBody>
      </p:sp>
      <p:sp>
        <p:nvSpPr>
          <p:cNvPr id="6" name="文本框 5"/>
          <p:cNvSpPr txBox="1"/>
          <p:nvPr/>
        </p:nvSpPr>
        <p:spPr>
          <a:xfrm>
            <a:off x="1073785" y="4373245"/>
            <a:ext cx="4482465" cy="102489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p>
            <a:pPr marL="0" marR="0" indent="0" algn="l" defTabSz="825500" rtl="0" fontAlgn="auto" latinLnBrk="0" hangingPunct="0">
              <a:lnSpc>
                <a:spcPct val="100000"/>
              </a:lnSpc>
              <a:spcBef>
                <a:spcPts val="0"/>
              </a:spcBef>
              <a:spcAft>
                <a:spcPts val="0"/>
              </a:spcAft>
              <a:buClrTx/>
              <a:buSzTx/>
              <a:buFontTx/>
              <a:buNone/>
            </a:pPr>
            <a:r>
              <a:rPr lang="en-US" altLang="zh-CN" sz="2000" dirty="0">
                <a:solidFill>
                  <a:srgbClr val="FF0000"/>
                </a:solidFill>
                <a:latin typeface="微软雅黑" panose="020B0503020204020204" pitchFamily="34" charset="-122"/>
                <a:ea typeface="微软雅黑" panose="020B0503020204020204" pitchFamily="34" charset="-122"/>
                <a:sym typeface="+mn-ea"/>
              </a:rPr>
              <a:t>1) Too slow</a:t>
            </a:r>
            <a:endParaRPr lang="en-US" altLang="zh-CN" sz="2000" dirty="0">
              <a:solidFill>
                <a:srgbClr val="FF0000"/>
              </a:solidFill>
              <a:latin typeface="微软雅黑" panose="020B0503020204020204" pitchFamily="34" charset="-122"/>
              <a:ea typeface="微软雅黑" panose="020B0503020204020204" pitchFamily="34" charset="-122"/>
              <a:sym typeface="+mn-ea"/>
            </a:endParaRPr>
          </a:p>
          <a:p>
            <a:pPr marL="0" marR="0" indent="0" algn="l" defTabSz="825500" rtl="0" fontAlgn="auto" latinLnBrk="0" hangingPunct="0">
              <a:lnSpc>
                <a:spcPct val="100000"/>
              </a:lnSpc>
              <a:spcBef>
                <a:spcPts val="0"/>
              </a:spcBef>
              <a:spcAft>
                <a:spcPts val="0"/>
              </a:spcAft>
              <a:buClrTx/>
              <a:buSzTx/>
              <a:buFontTx/>
              <a:buNone/>
            </a:pPr>
            <a:endParaRPr lang="zh-CN" altLang="en-US" sz="2000" dirty="0">
              <a:solidFill>
                <a:srgbClr val="FF0000"/>
              </a:solidFill>
              <a:latin typeface="微软雅黑" panose="020B0503020204020204" pitchFamily="34" charset="-122"/>
              <a:ea typeface="微软雅黑" panose="020B0503020204020204" pitchFamily="34" charset="-122"/>
              <a:sym typeface="+mn-ea"/>
            </a:endParaRPr>
          </a:p>
          <a:p>
            <a:pPr marL="0" marR="0" indent="0" algn="l" defTabSz="825500" rtl="0" fontAlgn="auto" latinLnBrk="0" hangingPunct="0">
              <a:lnSpc>
                <a:spcPct val="100000"/>
              </a:lnSpc>
              <a:spcBef>
                <a:spcPts val="0"/>
              </a:spcBef>
              <a:spcAft>
                <a:spcPts val="0"/>
              </a:spcAft>
              <a:buClrTx/>
              <a:buSzTx/>
              <a:buFontTx/>
              <a:buNone/>
            </a:pPr>
            <a:r>
              <a:rPr lang="en-US" altLang="zh-CN" sz="2000" dirty="0">
                <a:solidFill>
                  <a:srgbClr val="FF0000"/>
                </a:solidFill>
                <a:latin typeface="微软雅黑" panose="020B0503020204020204" pitchFamily="34" charset="-122"/>
                <a:ea typeface="微软雅黑" panose="020B0503020204020204" pitchFamily="34" charset="-122"/>
                <a:sym typeface="+mn-ea"/>
              </a:rPr>
              <a:t>2) Too many parameters</a:t>
            </a:r>
            <a:endParaRPr kumimoji="0" lang="zh-CN" altLang="en-US" sz="2000" b="0" i="0" u="none" strike="noStrike" cap="none" spc="0" normalizeH="0" baseline="0" dirty="0">
              <a:ln>
                <a:noFill/>
              </a:ln>
              <a:solidFill>
                <a:srgbClr val="FF0000"/>
              </a:solidFill>
              <a:effectLst/>
              <a:uFillTx/>
              <a:latin typeface="微软雅黑" panose="020B0503020204020204" pitchFamily="34" charset="-122"/>
              <a:ea typeface="微软雅黑" panose="020B0503020204020204" pitchFamily="34" charset="-122"/>
              <a:cs typeface="Helvetica Neue Medium"/>
              <a:sym typeface="Helvetica Neue Medium"/>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28"/>
                                        </p:tgtEl>
                                        <p:attrNameLst>
                                          <p:attrName>style.visibility</p:attrName>
                                        </p:attrNameLst>
                                      </p:cBhvr>
                                      <p:to>
                                        <p:strVal val="visible"/>
                                      </p:to>
                                    </p:set>
                                    <p:animEffect transition="in" filter="blinds(horizontal)">
                                      <p:cBhvr>
                                        <p:cTn id="7" dur="500"/>
                                        <p:tgtEl>
                                          <p:spTgt spid="92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22"/>
                                        </p:tgtEl>
                                        <p:attrNameLst>
                                          <p:attrName>style.visibility</p:attrName>
                                        </p:attrNameLst>
                                      </p:cBhvr>
                                      <p:to>
                                        <p:strVal val="visible"/>
                                      </p:to>
                                    </p:set>
                                    <p:animEffect transition="in" filter="blinds(horizontal)">
                                      <p:cBhvr>
                                        <p:cTn id="12" dur="500"/>
                                        <p:tgtEl>
                                          <p:spTgt spid="922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9225"/>
                                        </p:tgtEl>
                                        <p:attrNameLst>
                                          <p:attrName>style.visibility</p:attrName>
                                        </p:attrNameLst>
                                      </p:cBhvr>
                                      <p:to>
                                        <p:strVal val="visible"/>
                                      </p:to>
                                    </p:set>
                                    <p:animEffect transition="in" filter="fade">
                                      <p:cBhvr>
                                        <p:cTn id="16" dur="1000"/>
                                        <p:tgtEl>
                                          <p:spTgt spid="922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9223"/>
                                        </p:tgtEl>
                                        <p:attrNameLst>
                                          <p:attrName>style.visibility</p:attrName>
                                        </p:attrNameLst>
                                      </p:cBhvr>
                                      <p:to>
                                        <p:strVal val="visible"/>
                                      </p:to>
                                    </p:set>
                                    <p:animEffect transition="in" filter="blinds(horizontal)">
                                      <p:cBhvr>
                                        <p:cTn id="21" dur="500"/>
                                        <p:tgtEl>
                                          <p:spTgt spid="9223"/>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9226"/>
                                        </p:tgtEl>
                                        <p:attrNameLst>
                                          <p:attrName>style.visibility</p:attrName>
                                        </p:attrNameLst>
                                      </p:cBhvr>
                                      <p:to>
                                        <p:strVal val="visible"/>
                                      </p:to>
                                    </p:set>
                                    <p:animEffect transition="in" filter="fade">
                                      <p:cBhvr>
                                        <p:cTn id="25" dur="1000"/>
                                        <p:tgtEl>
                                          <p:spTgt spid="922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linds(horizontal)">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bldLvl="0"/>
      <p:bldP spid="9223" grpId="0" bldLvl="0"/>
      <p:bldP spid="9228" grpId="0" bldLvl="0"/>
      <p:bldP spid="6" grpId="0" bldLvl="0" animBg="1"/>
      <p:bldP spid="6"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lang="en-US" sz="2800" b="1">
                <a:solidFill>
                  <a:schemeClr val="bg1"/>
                </a:solidFill>
                <a:sym typeface="+mn-ea"/>
              </a:rPr>
              <a:t>Barcode Detection (Line Scanning)</a:t>
            </a:r>
            <a:endParaRPr kumimoji="1" lang="en-GB"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11268" name="文本框 11267"/>
          <p:cNvSpPr txBox="1"/>
          <p:nvPr/>
        </p:nvSpPr>
        <p:spPr>
          <a:xfrm>
            <a:off x="870268" y="2287270"/>
            <a:ext cx="3456305" cy="521970"/>
          </a:xfrm>
          <a:prstGeom prst="rect">
            <a:avLst/>
          </a:prstGeom>
          <a:noFill/>
          <a:ln w="9525">
            <a:noFill/>
          </a:ln>
        </p:spPr>
        <p:txBody>
          <a:bodyPr wrap="none">
            <a:spAutoFit/>
          </a:bodyPr>
          <a:p>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Coarse Location</a:t>
            </a:r>
            <a:endParaRPr lang="en-US" altLang="zh-CN" sz="2800" dirty="0">
              <a:latin typeface="微软雅黑" panose="020B0503020204020204" pitchFamily="34" charset="-122"/>
              <a:ea typeface="微软雅黑" panose="020B0503020204020204" pitchFamily="34" charset="-122"/>
            </a:endParaRPr>
          </a:p>
        </p:txBody>
      </p:sp>
      <p:sp>
        <p:nvSpPr>
          <p:cNvPr id="11269" name="文本框 11268"/>
          <p:cNvSpPr txBox="1"/>
          <p:nvPr/>
        </p:nvSpPr>
        <p:spPr>
          <a:xfrm>
            <a:off x="870586" y="3917633"/>
            <a:ext cx="4888865" cy="521970"/>
          </a:xfrm>
          <a:prstGeom prst="rect">
            <a:avLst/>
          </a:prstGeom>
          <a:noFill/>
          <a:ln w="9525">
            <a:noFill/>
          </a:ln>
        </p:spPr>
        <p:txBody>
          <a:bodyPr wrap="none">
            <a:spAutoFit/>
          </a:bodyPr>
          <a:p>
            <a:pPr algn="l"/>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Line Segment Clustering</a:t>
            </a:r>
            <a:endParaRPr lang="en-US" altLang="zh-CN" sz="2800" dirty="0">
              <a:latin typeface="微软雅黑" panose="020B0503020204020204" pitchFamily="34" charset="-122"/>
              <a:ea typeface="微软雅黑" panose="020B0503020204020204" pitchFamily="34" charset="-122"/>
            </a:endParaRPr>
          </a:p>
        </p:txBody>
      </p:sp>
      <p:graphicFrame>
        <p:nvGraphicFramePr>
          <p:cNvPr id="11270" name="对象 11269"/>
          <p:cNvGraphicFramePr/>
          <p:nvPr/>
        </p:nvGraphicFramePr>
        <p:xfrm>
          <a:off x="6511925" y="1893570"/>
          <a:ext cx="4765675" cy="3813175"/>
        </p:xfrm>
        <a:graphic>
          <a:graphicData uri="http://schemas.openxmlformats.org/presentationml/2006/ole">
            <mc:AlternateContent xmlns:mc="http://schemas.openxmlformats.org/markup-compatibility/2006">
              <mc:Choice xmlns:v="urn:schemas-microsoft-com:vml" Requires="v">
                <p:oleObj spid="_x0000_s3078" name="" r:id="rId1" imgW="4762500" imgH="3810000" progId="PBrush">
                  <p:embed/>
                </p:oleObj>
              </mc:Choice>
              <mc:Fallback>
                <p:oleObj name="" r:id="rId1" imgW="4762500" imgH="3810000" progId="PBrush">
                  <p:embed/>
                  <p:pic>
                    <p:nvPicPr>
                      <p:cNvPr id="0" name="图片 3077"/>
                      <p:cNvPicPr/>
                      <p:nvPr/>
                    </p:nvPicPr>
                    <p:blipFill>
                      <a:blip r:embed="rId2"/>
                      <a:stretch>
                        <a:fillRect/>
                      </a:stretch>
                    </p:blipFill>
                    <p:spPr>
                      <a:xfrm>
                        <a:off x="6511925" y="1893570"/>
                        <a:ext cx="4765675" cy="3813175"/>
                      </a:xfrm>
                      <a:prstGeom prst="rect">
                        <a:avLst/>
                      </a:prstGeom>
                      <a:noFill/>
                      <a:ln w="38100">
                        <a:noFill/>
                        <a:miter/>
                      </a:ln>
                    </p:spPr>
                  </p:pic>
                </p:oleObj>
              </mc:Fallback>
            </mc:AlternateContent>
          </a:graphicData>
        </a:graphic>
      </p:graphicFrame>
      <p:graphicFrame>
        <p:nvGraphicFramePr>
          <p:cNvPr id="11271" name="对象 11270"/>
          <p:cNvGraphicFramePr/>
          <p:nvPr/>
        </p:nvGraphicFramePr>
        <p:xfrm>
          <a:off x="6511925" y="1893570"/>
          <a:ext cx="4765675" cy="3813175"/>
        </p:xfrm>
        <a:graphic>
          <a:graphicData uri="http://schemas.openxmlformats.org/presentationml/2006/ole">
            <mc:AlternateContent xmlns:mc="http://schemas.openxmlformats.org/markup-compatibility/2006">
              <mc:Choice xmlns:v="urn:schemas-microsoft-com:vml" Requires="v">
                <p:oleObj spid="_x0000_s3079" name="" r:id="rId3" imgW="4762500" imgH="3810000" progId="PBrush">
                  <p:embed/>
                </p:oleObj>
              </mc:Choice>
              <mc:Fallback>
                <p:oleObj name="" r:id="rId3" imgW="4762500" imgH="3810000" progId="PBrush">
                  <p:embed/>
                  <p:pic>
                    <p:nvPicPr>
                      <p:cNvPr id="0" name="图片 3078"/>
                      <p:cNvPicPr/>
                      <p:nvPr/>
                    </p:nvPicPr>
                    <p:blipFill>
                      <a:blip r:embed="rId4"/>
                      <a:stretch>
                        <a:fillRect/>
                      </a:stretch>
                    </p:blipFill>
                    <p:spPr>
                      <a:xfrm>
                        <a:off x="6511925" y="1893570"/>
                        <a:ext cx="4765675" cy="3813175"/>
                      </a:xfrm>
                      <a:prstGeom prst="rect">
                        <a:avLst/>
                      </a:prstGeom>
                      <a:noFill/>
                      <a:ln w="38100">
                        <a:noFill/>
                        <a:miter/>
                      </a:ln>
                    </p:spPr>
                  </p:pic>
                </p:oleObj>
              </mc:Fallback>
            </mc:AlternateContent>
          </a:graphicData>
        </a:graphic>
      </p:graphicFrame>
      <p:graphicFrame>
        <p:nvGraphicFramePr>
          <p:cNvPr id="11272" name="对象 11271"/>
          <p:cNvGraphicFramePr/>
          <p:nvPr/>
        </p:nvGraphicFramePr>
        <p:xfrm>
          <a:off x="6480175" y="1880870"/>
          <a:ext cx="4765675" cy="3813175"/>
        </p:xfrm>
        <a:graphic>
          <a:graphicData uri="http://schemas.openxmlformats.org/presentationml/2006/ole">
            <mc:AlternateContent xmlns:mc="http://schemas.openxmlformats.org/markup-compatibility/2006">
              <mc:Choice xmlns:v="urn:schemas-microsoft-com:vml" Requires="v">
                <p:oleObj spid="_x0000_s3080" name="" r:id="rId5" imgW="4762500" imgH="3810000" progId="PBrush">
                  <p:embed/>
                </p:oleObj>
              </mc:Choice>
              <mc:Fallback>
                <p:oleObj name="" r:id="rId5" imgW="4762500" imgH="3810000" progId="PBrush">
                  <p:embed/>
                  <p:pic>
                    <p:nvPicPr>
                      <p:cNvPr id="0" name="图片 3079"/>
                      <p:cNvPicPr/>
                      <p:nvPr/>
                    </p:nvPicPr>
                    <p:blipFill>
                      <a:blip r:embed="rId6"/>
                      <a:stretch>
                        <a:fillRect/>
                      </a:stretch>
                    </p:blipFill>
                    <p:spPr>
                      <a:xfrm>
                        <a:off x="6480175" y="1880870"/>
                        <a:ext cx="4765675" cy="3813175"/>
                      </a:xfrm>
                      <a:prstGeom prst="rect">
                        <a:avLst/>
                      </a:prstGeom>
                      <a:noFill/>
                      <a:ln w="38100">
                        <a:noFill/>
                        <a:miter/>
                      </a:ln>
                    </p:spPr>
                  </p:pic>
                </p:oleObj>
              </mc:Fallback>
            </mc:AlternateContent>
          </a:graphicData>
        </a:graphic>
      </p:graphicFrame>
      <p:graphicFrame>
        <p:nvGraphicFramePr>
          <p:cNvPr id="11273" name="对象 11272"/>
          <p:cNvGraphicFramePr/>
          <p:nvPr/>
        </p:nvGraphicFramePr>
        <p:xfrm>
          <a:off x="6500813" y="1880870"/>
          <a:ext cx="4765675" cy="3813175"/>
        </p:xfrm>
        <a:graphic>
          <a:graphicData uri="http://schemas.openxmlformats.org/presentationml/2006/ole">
            <mc:AlternateContent xmlns:mc="http://schemas.openxmlformats.org/markup-compatibility/2006">
              <mc:Choice xmlns:v="urn:schemas-microsoft-com:vml" Requires="v">
                <p:oleObj spid="_x0000_s3077" name="" r:id="rId7" imgW="4762500" imgH="3810000" progId="PBrush">
                  <p:embed/>
                </p:oleObj>
              </mc:Choice>
              <mc:Fallback>
                <p:oleObj name="" r:id="rId7" imgW="4762500" imgH="3810000" progId="PBrush">
                  <p:embed/>
                  <p:pic>
                    <p:nvPicPr>
                      <p:cNvPr id="0" name="图片 3076"/>
                      <p:cNvPicPr/>
                      <p:nvPr/>
                    </p:nvPicPr>
                    <p:blipFill>
                      <a:blip r:embed="rId8"/>
                      <a:stretch>
                        <a:fillRect/>
                      </a:stretch>
                    </p:blipFill>
                    <p:spPr>
                      <a:xfrm>
                        <a:off x="6500813" y="1880870"/>
                        <a:ext cx="4765675" cy="3813175"/>
                      </a:xfrm>
                      <a:prstGeom prst="rect">
                        <a:avLst/>
                      </a:prstGeom>
                      <a:noFill/>
                      <a:ln w="38100">
                        <a:noFill/>
                        <a:miter/>
                      </a:ln>
                    </p:spPr>
                  </p:pic>
                </p:oleObj>
              </mc:Fallback>
            </mc:AlternateContent>
          </a:graphicData>
        </a:graphic>
      </p:graphicFrame>
      <p:graphicFrame>
        <p:nvGraphicFramePr>
          <p:cNvPr id="11274" name="对象 11273"/>
          <p:cNvGraphicFramePr/>
          <p:nvPr/>
        </p:nvGraphicFramePr>
        <p:xfrm>
          <a:off x="6518275" y="1880870"/>
          <a:ext cx="4765675" cy="3813175"/>
        </p:xfrm>
        <a:graphic>
          <a:graphicData uri="http://schemas.openxmlformats.org/presentationml/2006/ole">
            <mc:AlternateContent xmlns:mc="http://schemas.openxmlformats.org/markup-compatibility/2006">
              <mc:Choice xmlns:v="urn:schemas-microsoft-com:vml" Requires="v">
                <p:oleObj spid="_x0000_s3076" name="" r:id="rId9" imgW="4762500" imgH="3810000" progId="PBrush">
                  <p:embed/>
                </p:oleObj>
              </mc:Choice>
              <mc:Fallback>
                <p:oleObj name="" r:id="rId9" imgW="4762500" imgH="3810000" progId="PBrush">
                  <p:embed/>
                  <p:pic>
                    <p:nvPicPr>
                      <p:cNvPr id="0" name="图片 3075"/>
                      <p:cNvPicPr/>
                      <p:nvPr/>
                    </p:nvPicPr>
                    <p:blipFill>
                      <a:blip r:embed="rId10"/>
                      <a:stretch>
                        <a:fillRect/>
                      </a:stretch>
                    </p:blipFill>
                    <p:spPr>
                      <a:xfrm>
                        <a:off x="6518275" y="1880870"/>
                        <a:ext cx="4765675" cy="381317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checkerboard(across)">
                                      <p:cBhvr>
                                        <p:cTn id="7" dur="500"/>
                                        <p:tgtEl>
                                          <p:spTgt spid="1126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271"/>
                                        </p:tgtEl>
                                        <p:attrNameLst>
                                          <p:attrName>style.visibility</p:attrName>
                                        </p:attrNameLst>
                                      </p:cBhvr>
                                      <p:to>
                                        <p:strVal val="visible"/>
                                      </p:to>
                                    </p:set>
                                    <p:animEffect transition="in" filter="fade">
                                      <p:cBhvr>
                                        <p:cTn id="11" dur="1000"/>
                                        <p:tgtEl>
                                          <p:spTgt spid="1127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272"/>
                                        </p:tgtEl>
                                        <p:attrNameLst>
                                          <p:attrName>style.visibility</p:attrName>
                                        </p:attrNameLst>
                                      </p:cBhvr>
                                      <p:to>
                                        <p:strVal val="visible"/>
                                      </p:to>
                                    </p:set>
                                    <p:animEffect transition="in" filter="fade">
                                      <p:cBhvr>
                                        <p:cTn id="16" dur="1000"/>
                                        <p:tgtEl>
                                          <p:spTgt spid="1127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273"/>
                                        </p:tgtEl>
                                        <p:attrNameLst>
                                          <p:attrName>style.visibility</p:attrName>
                                        </p:attrNameLst>
                                      </p:cBhvr>
                                      <p:to>
                                        <p:strVal val="visible"/>
                                      </p:to>
                                    </p:set>
                                    <p:animEffect transition="in" filter="fade">
                                      <p:cBhvr>
                                        <p:cTn id="21" dur="1000"/>
                                        <p:tgtEl>
                                          <p:spTgt spid="1127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269"/>
                                        </p:tgtEl>
                                        <p:attrNameLst>
                                          <p:attrName>style.visibility</p:attrName>
                                        </p:attrNameLst>
                                      </p:cBhvr>
                                      <p:to>
                                        <p:strVal val="visible"/>
                                      </p:to>
                                    </p:set>
                                    <p:animEffect transition="in" filter="blinds(horizontal)">
                                      <p:cBhvr>
                                        <p:cTn id="26" dur="500"/>
                                        <p:tgtEl>
                                          <p:spTgt spid="11269"/>
                                        </p:tgtEl>
                                      </p:cBhvr>
                                    </p:animEffect>
                                  </p:childTnLst>
                                </p:cTn>
                              </p:par>
                            </p:childTnLst>
                          </p:cTn>
                        </p:par>
                        <p:par>
                          <p:cTn id="27" fill="hold">
                            <p:stCondLst>
                              <p:cond delay="500"/>
                            </p:stCondLst>
                            <p:childTnLst>
                              <p:par>
                                <p:cTn id="28" presetID="3" presetClass="entr" presetSubtype="10" fill="hold" nodeType="afterEffect">
                                  <p:stCondLst>
                                    <p:cond delay="0"/>
                                  </p:stCondLst>
                                  <p:childTnLst>
                                    <p:set>
                                      <p:cBhvr>
                                        <p:cTn id="29" dur="1" fill="hold">
                                          <p:stCondLst>
                                            <p:cond delay="0"/>
                                          </p:stCondLst>
                                        </p:cTn>
                                        <p:tgtEl>
                                          <p:spTgt spid="11274"/>
                                        </p:tgtEl>
                                        <p:attrNameLst>
                                          <p:attrName>style.visibility</p:attrName>
                                        </p:attrNameLst>
                                      </p:cBhvr>
                                      <p:to>
                                        <p:strVal val="visible"/>
                                      </p:to>
                                    </p:set>
                                    <p:animEffect transition="in" filter="blinds(horizontal)">
                                      <p:cBhvr>
                                        <p:cTn id="30" dur="1000"/>
                                        <p:tgtEl>
                                          <p:spTgt spid="11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ldLvl="0"/>
      <p:bldP spid="11269" grpId="0" bldLvl="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lang="en-US" sz="2800" b="1">
                <a:solidFill>
                  <a:schemeClr val="bg1"/>
                </a:solidFill>
                <a:sym typeface="+mn-ea"/>
              </a:rPr>
              <a:t>Barcode Detection (Refining)</a:t>
            </a:r>
            <a:endParaRPr kumimoji="1" lang="en-GB"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12291" name="文本框 12290"/>
          <p:cNvSpPr txBox="1"/>
          <p:nvPr/>
        </p:nvSpPr>
        <p:spPr>
          <a:xfrm>
            <a:off x="940118" y="1755775"/>
            <a:ext cx="4201795" cy="953135"/>
          </a:xfrm>
          <a:prstGeom prst="rect">
            <a:avLst/>
          </a:prstGeom>
          <a:noFill/>
          <a:ln w="9525">
            <a:noFill/>
          </a:ln>
        </p:spPr>
        <p:txBody>
          <a:bodyPr wrap="none">
            <a:spAutoFit/>
          </a:bodyPr>
          <a:p>
            <a:pPr algn="l"/>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Extract and connect </a:t>
            </a:r>
            <a:endParaRPr lang="en-US" altLang="zh-CN" sz="2800" dirty="0">
              <a:latin typeface="微软雅黑" panose="020B0503020204020204" pitchFamily="34" charset="-122"/>
              <a:ea typeface="微软雅黑" panose="020B0503020204020204" pitchFamily="34" charset="-122"/>
            </a:endParaRPr>
          </a:p>
          <a:p>
            <a:pPr indent="457200" algn="l"/>
            <a:r>
              <a:rPr lang="en-US" altLang="zh-CN" sz="2800" dirty="0">
                <a:latin typeface="微软雅黑" panose="020B0503020204020204" pitchFamily="34" charset="-122"/>
                <a:ea typeface="微软雅黑" panose="020B0503020204020204" pitchFamily="34" charset="-122"/>
              </a:rPr>
              <a:t> line segments</a:t>
            </a:r>
            <a:endParaRPr lang="en-US" altLang="zh-CN" sz="2800" dirty="0">
              <a:latin typeface="微软雅黑" panose="020B0503020204020204" pitchFamily="34" charset="-122"/>
              <a:ea typeface="微软雅黑" panose="020B0503020204020204" pitchFamily="34" charset="-122"/>
            </a:endParaRPr>
          </a:p>
        </p:txBody>
      </p:sp>
      <p:sp>
        <p:nvSpPr>
          <p:cNvPr id="12292" name="文本框 12291"/>
          <p:cNvSpPr txBox="1"/>
          <p:nvPr/>
        </p:nvSpPr>
        <p:spPr>
          <a:xfrm>
            <a:off x="940277" y="2999423"/>
            <a:ext cx="4449445" cy="1383665"/>
          </a:xfrm>
          <a:prstGeom prst="rect">
            <a:avLst/>
          </a:prstGeom>
          <a:noFill/>
          <a:ln w="9525">
            <a:noFill/>
          </a:ln>
        </p:spPr>
        <p:txBody>
          <a:bodyPr vert="horz" wrap="none" anchor="t">
            <a:spAutoFit/>
          </a:bodyPr>
          <a:p>
            <a:pPr algn="l"/>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4</a:t>
            </a: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Obtain the area </a:t>
            </a:r>
            <a:endParaRPr lang="en-US" altLang="zh-CN" sz="2800" dirty="0">
              <a:latin typeface="微软雅黑" panose="020B0503020204020204" pitchFamily="34" charset="-122"/>
              <a:ea typeface="微软雅黑" panose="020B0503020204020204" pitchFamily="34" charset="-122"/>
            </a:endParaRPr>
          </a:p>
          <a:p>
            <a:pPr indent="457200" algn="l"/>
            <a:r>
              <a:rPr lang="en-US" altLang="zh-CN" sz="2800" dirty="0">
                <a:latin typeface="微软雅黑" panose="020B0503020204020204" pitchFamily="34" charset="-122"/>
                <a:ea typeface="微软雅黑" panose="020B0503020204020204" pitchFamily="34" charset="-122"/>
              </a:rPr>
              <a:t> formed by several </a:t>
            </a:r>
            <a:endParaRPr lang="en-US" altLang="zh-CN" sz="2800" dirty="0">
              <a:latin typeface="微软雅黑" panose="020B0503020204020204" pitchFamily="34" charset="-122"/>
              <a:ea typeface="微软雅黑" panose="020B0503020204020204" pitchFamily="34" charset="-122"/>
            </a:endParaRPr>
          </a:p>
          <a:p>
            <a:pPr indent="457200" algn="l"/>
            <a:r>
              <a:rPr lang="en-US" altLang="zh-CN" sz="2800" dirty="0">
                <a:latin typeface="微软雅黑" panose="020B0503020204020204" pitchFamily="34" charset="-122"/>
                <a:ea typeface="微软雅黑" panose="020B0503020204020204" pitchFamily="34" charset="-122"/>
              </a:rPr>
              <a:t> parallel line segments</a:t>
            </a:r>
            <a:endParaRPr lang="en-US" altLang="zh-CN" sz="2800" dirty="0">
              <a:latin typeface="微软雅黑" panose="020B0503020204020204" pitchFamily="34" charset="-122"/>
              <a:ea typeface="微软雅黑" panose="020B0503020204020204" pitchFamily="34" charset="-122"/>
            </a:endParaRPr>
          </a:p>
        </p:txBody>
      </p:sp>
      <p:sp>
        <p:nvSpPr>
          <p:cNvPr id="12293" name="文本框 12292"/>
          <p:cNvSpPr txBox="1"/>
          <p:nvPr/>
        </p:nvSpPr>
        <p:spPr>
          <a:xfrm>
            <a:off x="940277" y="4615498"/>
            <a:ext cx="4846955" cy="953135"/>
          </a:xfrm>
          <a:prstGeom prst="rect">
            <a:avLst/>
          </a:prstGeom>
          <a:noFill/>
          <a:ln w="9525">
            <a:noFill/>
          </a:ln>
        </p:spPr>
        <p:txBody>
          <a:bodyPr wrap="none">
            <a:spAutoFit/>
          </a:bodyPr>
          <a:p>
            <a:pPr algn="l"/>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5</a:t>
            </a:r>
            <a:r>
              <a:rPr lang="zh-CN" altLang="en-US" sz="28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Search along the </a:t>
            </a:r>
            <a:endParaRPr lang="en-US" altLang="zh-CN" sz="2800" dirty="0">
              <a:latin typeface="微软雅黑" panose="020B0503020204020204" pitchFamily="34" charset="-122"/>
              <a:ea typeface="微软雅黑" panose="020B0503020204020204" pitchFamily="34" charset="-122"/>
            </a:endParaRPr>
          </a:p>
          <a:p>
            <a:pPr indent="457200" algn="l"/>
            <a:r>
              <a:rPr lang="en-US" altLang="zh-CN" sz="2800" dirty="0">
                <a:latin typeface="微软雅黑" panose="020B0503020204020204" pitchFamily="34" charset="-122"/>
                <a:ea typeface="微软雅黑" panose="020B0503020204020204" pitchFamily="34" charset="-122"/>
              </a:rPr>
              <a:t> direction of the barcode</a:t>
            </a:r>
            <a:endParaRPr lang="en-US" altLang="zh-CN" sz="2800" dirty="0">
              <a:latin typeface="微软雅黑" panose="020B0503020204020204" pitchFamily="34" charset="-122"/>
              <a:ea typeface="微软雅黑" panose="020B0503020204020204" pitchFamily="34" charset="-122"/>
            </a:endParaRPr>
          </a:p>
        </p:txBody>
      </p:sp>
      <p:graphicFrame>
        <p:nvGraphicFramePr>
          <p:cNvPr id="12294" name="对象 12293"/>
          <p:cNvGraphicFramePr/>
          <p:nvPr/>
        </p:nvGraphicFramePr>
        <p:xfrm>
          <a:off x="6322378" y="1755458"/>
          <a:ext cx="4765675" cy="3813175"/>
        </p:xfrm>
        <a:graphic>
          <a:graphicData uri="http://schemas.openxmlformats.org/presentationml/2006/ole">
            <mc:AlternateContent xmlns:mc="http://schemas.openxmlformats.org/markup-compatibility/2006">
              <mc:Choice xmlns:v="urn:schemas-microsoft-com:vml" Requires="v">
                <p:oleObj spid="_x0000_s3090" name="" r:id="rId1" imgW="4762500" imgH="3810000" progId="PBrush">
                  <p:embed/>
                </p:oleObj>
              </mc:Choice>
              <mc:Fallback>
                <p:oleObj name="" r:id="rId1" imgW="4762500" imgH="3810000" progId="PBrush">
                  <p:embed/>
                  <p:pic>
                    <p:nvPicPr>
                      <p:cNvPr id="0" name="图片 3089"/>
                      <p:cNvPicPr/>
                      <p:nvPr/>
                    </p:nvPicPr>
                    <p:blipFill>
                      <a:blip r:embed="rId2"/>
                      <a:stretch>
                        <a:fillRect/>
                      </a:stretch>
                    </p:blipFill>
                    <p:spPr>
                      <a:xfrm>
                        <a:off x="6322378" y="1755458"/>
                        <a:ext cx="4765675" cy="3813175"/>
                      </a:xfrm>
                      <a:prstGeom prst="rect">
                        <a:avLst/>
                      </a:prstGeom>
                      <a:noFill/>
                      <a:ln w="38100">
                        <a:noFill/>
                        <a:miter/>
                      </a:ln>
                    </p:spPr>
                  </p:pic>
                </p:oleObj>
              </mc:Fallback>
            </mc:AlternateContent>
          </a:graphicData>
        </a:graphic>
      </p:graphicFrame>
      <p:graphicFrame>
        <p:nvGraphicFramePr>
          <p:cNvPr id="12295" name="对象 12294"/>
          <p:cNvGraphicFramePr/>
          <p:nvPr/>
        </p:nvGraphicFramePr>
        <p:xfrm>
          <a:off x="6308090" y="1757045"/>
          <a:ext cx="4765675" cy="3813175"/>
        </p:xfrm>
        <a:graphic>
          <a:graphicData uri="http://schemas.openxmlformats.org/presentationml/2006/ole">
            <mc:AlternateContent xmlns:mc="http://schemas.openxmlformats.org/markup-compatibility/2006">
              <mc:Choice xmlns:v="urn:schemas-microsoft-com:vml" Requires="v">
                <p:oleObj spid="_x0000_s3091" name="" r:id="rId3" imgW="4762500" imgH="3810000" progId="PBrush">
                  <p:embed/>
                </p:oleObj>
              </mc:Choice>
              <mc:Fallback>
                <p:oleObj name="" r:id="rId3" imgW="4762500" imgH="3810000" progId="PBrush">
                  <p:embed/>
                  <p:pic>
                    <p:nvPicPr>
                      <p:cNvPr id="0" name="图片 3090"/>
                      <p:cNvPicPr/>
                      <p:nvPr/>
                    </p:nvPicPr>
                    <p:blipFill>
                      <a:blip r:embed="rId4"/>
                      <a:stretch>
                        <a:fillRect/>
                      </a:stretch>
                    </p:blipFill>
                    <p:spPr>
                      <a:xfrm>
                        <a:off x="6308090" y="1757045"/>
                        <a:ext cx="4765675" cy="3813175"/>
                      </a:xfrm>
                      <a:prstGeom prst="rect">
                        <a:avLst/>
                      </a:prstGeom>
                      <a:noFill/>
                      <a:ln w="38100">
                        <a:noFill/>
                        <a:miter/>
                      </a:ln>
                    </p:spPr>
                  </p:pic>
                </p:oleObj>
              </mc:Fallback>
            </mc:AlternateContent>
          </a:graphicData>
        </a:graphic>
      </p:graphicFrame>
      <p:graphicFrame>
        <p:nvGraphicFramePr>
          <p:cNvPr id="12296" name="对象 12295"/>
          <p:cNvGraphicFramePr/>
          <p:nvPr/>
        </p:nvGraphicFramePr>
        <p:xfrm>
          <a:off x="6293803" y="1769745"/>
          <a:ext cx="4764087" cy="3813175"/>
        </p:xfrm>
        <a:graphic>
          <a:graphicData uri="http://schemas.openxmlformats.org/presentationml/2006/ole">
            <mc:AlternateContent xmlns:mc="http://schemas.openxmlformats.org/markup-compatibility/2006">
              <mc:Choice xmlns:v="urn:schemas-microsoft-com:vml" Requires="v">
                <p:oleObj spid="_x0000_s3089" name="" r:id="rId5" imgW="4762500" imgH="3810000" progId="PBrush">
                  <p:embed/>
                </p:oleObj>
              </mc:Choice>
              <mc:Fallback>
                <p:oleObj name="" r:id="rId5" imgW="4762500" imgH="3810000" progId="PBrush">
                  <p:embed/>
                  <p:pic>
                    <p:nvPicPr>
                      <p:cNvPr id="0" name="图片 3088"/>
                      <p:cNvPicPr/>
                      <p:nvPr/>
                    </p:nvPicPr>
                    <p:blipFill>
                      <a:blip r:embed="rId6"/>
                      <a:stretch>
                        <a:fillRect/>
                      </a:stretch>
                    </p:blipFill>
                    <p:spPr>
                      <a:xfrm>
                        <a:off x="6293803" y="1769745"/>
                        <a:ext cx="4764087" cy="3813175"/>
                      </a:xfrm>
                      <a:prstGeom prst="rect">
                        <a:avLst/>
                      </a:prstGeom>
                      <a:noFill/>
                      <a:ln w="38100">
                        <a:noFill/>
                        <a:miter/>
                      </a:ln>
                    </p:spPr>
                  </p:pic>
                </p:oleObj>
              </mc:Fallback>
            </mc:AlternateContent>
          </a:graphicData>
        </a:graphic>
      </p:graphicFrame>
      <p:graphicFrame>
        <p:nvGraphicFramePr>
          <p:cNvPr id="12297" name="对象 12296"/>
          <p:cNvGraphicFramePr/>
          <p:nvPr/>
        </p:nvGraphicFramePr>
        <p:xfrm>
          <a:off x="6284278" y="1757045"/>
          <a:ext cx="4764087" cy="3813175"/>
        </p:xfrm>
        <a:graphic>
          <a:graphicData uri="http://schemas.openxmlformats.org/presentationml/2006/ole">
            <mc:AlternateContent xmlns:mc="http://schemas.openxmlformats.org/markup-compatibility/2006">
              <mc:Choice xmlns:v="urn:schemas-microsoft-com:vml" Requires="v">
                <p:oleObj spid="_x0000_s3092" name="" r:id="rId7" imgW="4762500" imgH="3810000" progId="PBrush">
                  <p:embed/>
                </p:oleObj>
              </mc:Choice>
              <mc:Fallback>
                <p:oleObj name="" r:id="rId7" imgW="4762500" imgH="3810000" progId="PBrush">
                  <p:embed/>
                  <p:pic>
                    <p:nvPicPr>
                      <p:cNvPr id="0" name="图片 3091"/>
                      <p:cNvPicPr/>
                      <p:nvPr/>
                    </p:nvPicPr>
                    <p:blipFill>
                      <a:blip r:embed="rId8"/>
                      <a:stretch>
                        <a:fillRect/>
                      </a:stretch>
                    </p:blipFill>
                    <p:spPr>
                      <a:xfrm>
                        <a:off x="6284278" y="1757045"/>
                        <a:ext cx="4764087" cy="3813175"/>
                      </a:xfrm>
                      <a:prstGeom prst="rect">
                        <a:avLst/>
                      </a:prstGeom>
                      <a:noFill/>
                      <a:ln w="38100">
                        <a:noFill/>
                        <a:miter/>
                      </a:ln>
                    </p:spPr>
                  </p:pic>
                </p:oleObj>
              </mc:Fallback>
            </mc:AlternateContent>
          </a:graphicData>
        </a:graphic>
      </p:graphicFrame>
      <p:graphicFrame>
        <p:nvGraphicFramePr>
          <p:cNvPr id="12298" name="对象 12297"/>
          <p:cNvGraphicFramePr/>
          <p:nvPr/>
        </p:nvGraphicFramePr>
        <p:xfrm>
          <a:off x="6282690" y="1757045"/>
          <a:ext cx="4765675" cy="3813175"/>
        </p:xfrm>
        <a:graphic>
          <a:graphicData uri="http://schemas.openxmlformats.org/presentationml/2006/ole">
            <mc:AlternateContent xmlns:mc="http://schemas.openxmlformats.org/markup-compatibility/2006">
              <mc:Choice xmlns:v="urn:schemas-microsoft-com:vml" Requires="v">
                <p:oleObj spid="_x0000_s3088" name="" r:id="rId9" imgW="4762500" imgH="3810000" progId="PBrush">
                  <p:embed/>
                </p:oleObj>
              </mc:Choice>
              <mc:Fallback>
                <p:oleObj name="" r:id="rId9" imgW="4762500" imgH="3810000" progId="PBrush">
                  <p:embed/>
                  <p:pic>
                    <p:nvPicPr>
                      <p:cNvPr id="0" name="图片 3087"/>
                      <p:cNvPicPr/>
                      <p:nvPr/>
                    </p:nvPicPr>
                    <p:blipFill>
                      <a:blip r:embed="rId10"/>
                      <a:stretch>
                        <a:fillRect/>
                      </a:stretch>
                    </p:blipFill>
                    <p:spPr>
                      <a:xfrm>
                        <a:off x="6282690" y="1757045"/>
                        <a:ext cx="4765675" cy="381317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animEffect transition="in" filter="blinds(horizontal)">
                                      <p:cBhvr>
                                        <p:cTn id="7" dur="500"/>
                                        <p:tgtEl>
                                          <p:spTgt spid="122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95"/>
                                        </p:tgtEl>
                                        <p:attrNameLst>
                                          <p:attrName>style.visibility</p:attrName>
                                        </p:attrNameLst>
                                      </p:cBhvr>
                                      <p:to>
                                        <p:strVal val="visible"/>
                                      </p:to>
                                    </p:set>
                                    <p:animEffect transition="in" filter="fade">
                                      <p:cBhvr>
                                        <p:cTn id="12" dur="500"/>
                                        <p:tgtEl>
                                          <p:spTgt spid="122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296"/>
                                        </p:tgtEl>
                                        <p:attrNameLst>
                                          <p:attrName>style.visibility</p:attrName>
                                        </p:attrNameLst>
                                      </p:cBhvr>
                                      <p:to>
                                        <p:strVal val="visible"/>
                                      </p:to>
                                    </p:set>
                                    <p:animEffect transition="in" filter="fade">
                                      <p:cBhvr>
                                        <p:cTn id="17" dur="500"/>
                                        <p:tgtEl>
                                          <p:spTgt spid="1229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292"/>
                                        </p:tgtEl>
                                        <p:attrNameLst>
                                          <p:attrName>style.visibility</p:attrName>
                                        </p:attrNameLst>
                                      </p:cBhvr>
                                      <p:to>
                                        <p:strVal val="visible"/>
                                      </p:to>
                                    </p:set>
                                    <p:animEffect transition="in" filter="blinds(horizontal)">
                                      <p:cBhvr>
                                        <p:cTn id="22" dur="500"/>
                                        <p:tgtEl>
                                          <p:spTgt spid="12292"/>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12297"/>
                                        </p:tgtEl>
                                        <p:attrNameLst>
                                          <p:attrName>style.visibility</p:attrName>
                                        </p:attrNameLst>
                                      </p:cBhvr>
                                      <p:to>
                                        <p:strVal val="visible"/>
                                      </p:to>
                                    </p:set>
                                    <p:animEffect transition="in" filter="fade">
                                      <p:cBhvr>
                                        <p:cTn id="26" dur="2000"/>
                                        <p:tgtEl>
                                          <p:spTgt spid="1229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2293"/>
                                        </p:tgtEl>
                                        <p:attrNameLst>
                                          <p:attrName>style.visibility</p:attrName>
                                        </p:attrNameLst>
                                      </p:cBhvr>
                                      <p:to>
                                        <p:strVal val="visible"/>
                                      </p:to>
                                    </p:set>
                                    <p:animEffect transition="in" filter="blinds(horizontal)">
                                      <p:cBhvr>
                                        <p:cTn id="31" dur="500"/>
                                        <p:tgtEl>
                                          <p:spTgt spid="12293"/>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2298"/>
                                        </p:tgtEl>
                                        <p:attrNameLst>
                                          <p:attrName>style.visibility</p:attrName>
                                        </p:attrNameLst>
                                      </p:cBhvr>
                                      <p:to>
                                        <p:strVal val="visible"/>
                                      </p:to>
                                    </p:set>
                                    <p:animEffect transition="in" filter="fade">
                                      <p:cBhvr>
                                        <p:cTn id="35" dur="1000"/>
                                        <p:tgtEl>
                                          <p:spTgt spid="12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ldLvl="0"/>
      <p:bldP spid="12292" grpId="0" bldLvl="0"/>
      <p:bldP spid="12293" grpId="0" bldLvl="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000" y="180340"/>
            <a:ext cx="9391015"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Smart Phone Controller (with image processing)</a:t>
            </a:r>
            <a:endParaRPr kumimoji="1"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pic>
        <p:nvPicPr>
          <p:cNvPr id="28" name="图片 27"/>
          <p:cNvPicPr>
            <a:picLocks noChangeAspect="1"/>
          </p:cNvPicPr>
          <p:nvPr/>
        </p:nvPicPr>
        <p:blipFill>
          <a:blip r:embed="rId1"/>
          <a:stretch>
            <a:fillRect/>
          </a:stretch>
        </p:blipFill>
        <p:spPr>
          <a:xfrm>
            <a:off x="749935" y="2769870"/>
            <a:ext cx="1830070" cy="1935480"/>
          </a:xfrm>
          <a:prstGeom prst="rect">
            <a:avLst/>
          </a:prstGeom>
        </p:spPr>
      </p:pic>
      <p:pic>
        <p:nvPicPr>
          <p:cNvPr id="3" name="图片 2" descr="phone"/>
          <p:cNvPicPr>
            <a:picLocks noChangeAspect="1"/>
          </p:cNvPicPr>
          <p:nvPr/>
        </p:nvPicPr>
        <p:blipFill>
          <a:blip r:embed="rId2"/>
          <a:stretch>
            <a:fillRect/>
          </a:stretch>
        </p:blipFill>
        <p:spPr>
          <a:xfrm>
            <a:off x="10803255" y="1062990"/>
            <a:ext cx="1109980" cy="1971040"/>
          </a:xfrm>
          <a:prstGeom prst="rect">
            <a:avLst/>
          </a:prstGeom>
        </p:spPr>
      </p:pic>
      <p:sp>
        <p:nvSpPr>
          <p:cNvPr id="10" name="上弧形箭头 9"/>
          <p:cNvSpPr/>
          <p:nvPr/>
        </p:nvSpPr>
        <p:spPr>
          <a:xfrm>
            <a:off x="2539365" y="1165225"/>
            <a:ext cx="4866005" cy="575945"/>
          </a:xfrm>
          <a:prstGeom prst="curved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solidFill>
                <a:schemeClr val="tx1"/>
              </a:solidFill>
            </a:endParaRPr>
          </a:p>
        </p:txBody>
      </p:sp>
      <p:sp>
        <p:nvSpPr>
          <p:cNvPr id="11" name="文本框 10"/>
          <p:cNvSpPr txBox="1"/>
          <p:nvPr/>
        </p:nvSpPr>
        <p:spPr>
          <a:xfrm>
            <a:off x="3925570" y="1154430"/>
            <a:ext cx="2094230" cy="368300"/>
          </a:xfrm>
          <a:prstGeom prst="rect">
            <a:avLst/>
          </a:prstGeom>
          <a:noFill/>
        </p:spPr>
        <p:txBody>
          <a:bodyPr wrap="square" rtlCol="0">
            <a:spAutoFit/>
          </a:bodyPr>
          <a:p>
            <a:r>
              <a:rPr lang="en-US" altLang="zh-CN"/>
              <a:t>Basic Command</a:t>
            </a:r>
            <a:endParaRPr lang="en-US" altLang="zh-CN"/>
          </a:p>
        </p:txBody>
      </p:sp>
      <p:sp>
        <p:nvSpPr>
          <p:cNvPr id="12" name="上弧形箭头 11"/>
          <p:cNvSpPr/>
          <p:nvPr/>
        </p:nvSpPr>
        <p:spPr>
          <a:xfrm>
            <a:off x="2580005" y="2194560"/>
            <a:ext cx="4866005" cy="576580"/>
          </a:xfrm>
          <a:prstGeom prst="curved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solidFill>
                <a:schemeClr val="tx1"/>
              </a:solidFill>
            </a:endParaRPr>
          </a:p>
        </p:txBody>
      </p:sp>
      <p:sp>
        <p:nvSpPr>
          <p:cNvPr id="13" name="文本框 12"/>
          <p:cNvSpPr txBox="1"/>
          <p:nvPr/>
        </p:nvSpPr>
        <p:spPr>
          <a:xfrm>
            <a:off x="3834130" y="2294890"/>
            <a:ext cx="2094230" cy="368300"/>
          </a:xfrm>
          <a:prstGeom prst="rect">
            <a:avLst/>
          </a:prstGeom>
          <a:noFill/>
        </p:spPr>
        <p:txBody>
          <a:bodyPr wrap="square" rtlCol="0">
            <a:spAutoFit/>
          </a:bodyPr>
          <a:p>
            <a:r>
              <a:rPr lang="en-US" altLang="zh-CN"/>
              <a:t>Visual Command</a:t>
            </a:r>
            <a:endParaRPr lang="en-US" altLang="zh-CN"/>
          </a:p>
        </p:txBody>
      </p:sp>
      <p:sp>
        <p:nvSpPr>
          <p:cNvPr id="14" name="圆角矩形 13"/>
          <p:cNvSpPr/>
          <p:nvPr/>
        </p:nvSpPr>
        <p:spPr>
          <a:xfrm>
            <a:off x="7446010" y="1479550"/>
            <a:ext cx="2004060" cy="968375"/>
          </a:xfrm>
          <a:prstGeom prst="round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solidFill>
                  <a:schemeClr val="tx1"/>
                </a:solidFill>
              </a:rPr>
              <a:t>Volumae +/-</a:t>
            </a:r>
            <a:br>
              <a:rPr kumimoji="1" lang="en-US" altLang="zh-CN">
                <a:solidFill>
                  <a:schemeClr val="tx1"/>
                </a:solidFill>
              </a:rPr>
            </a:br>
            <a:r>
              <a:rPr kumimoji="1" lang="en-US" altLang="zh-CN">
                <a:solidFill>
                  <a:schemeClr val="tx1"/>
                </a:solidFill>
              </a:rPr>
              <a:t>Next/Prev.</a:t>
            </a:r>
            <a:br>
              <a:rPr kumimoji="1" lang="en-US" altLang="zh-CN">
                <a:solidFill>
                  <a:schemeClr val="tx1"/>
                </a:solidFill>
              </a:rPr>
            </a:br>
            <a:r>
              <a:rPr kumimoji="1" lang="en-US" altLang="zh-CN">
                <a:solidFill>
                  <a:schemeClr val="tx1"/>
                </a:solidFill>
              </a:rPr>
              <a:t>Pause/Resume </a:t>
            </a:r>
            <a:endParaRPr kumimoji="1" lang="en-US" altLang="zh-CN">
              <a:solidFill>
                <a:schemeClr val="tx1"/>
              </a:solidFill>
            </a:endParaRPr>
          </a:p>
        </p:txBody>
      </p:sp>
      <p:sp>
        <p:nvSpPr>
          <p:cNvPr id="16" name="圆角矩形 15"/>
          <p:cNvSpPr/>
          <p:nvPr/>
        </p:nvSpPr>
        <p:spPr>
          <a:xfrm>
            <a:off x="7394575" y="2686685"/>
            <a:ext cx="2799080" cy="627380"/>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solidFill>
                  <a:schemeClr val="tx1"/>
                </a:solidFill>
              </a:rPr>
              <a:t>Screenshot</a:t>
            </a:r>
            <a:br>
              <a:rPr kumimoji="1" lang="en-US" altLang="zh-CN">
                <a:solidFill>
                  <a:schemeClr val="tx1"/>
                </a:solidFill>
              </a:rPr>
            </a:br>
            <a:r>
              <a:rPr kumimoji="1" lang="en-US" altLang="zh-CN">
                <a:solidFill>
                  <a:schemeClr val="tx1"/>
                </a:solidFill>
              </a:rPr>
              <a:t>(with </a:t>
            </a:r>
            <a:r>
              <a:rPr kumimoji="1" lang="en-US" altLang="zh-CN" b="1">
                <a:solidFill>
                  <a:srgbClr val="FF0000"/>
                </a:solidFill>
              </a:rPr>
              <a:t>I</a:t>
            </a:r>
            <a:r>
              <a:rPr kumimoji="1" lang="en-US" altLang="zh-CN" b="1">
                <a:solidFill>
                  <a:srgbClr val="FF0000"/>
                </a:solidFill>
              </a:rPr>
              <a:t>mage Processing</a:t>
            </a:r>
            <a:r>
              <a:rPr kumimoji="1" lang="en-US" altLang="zh-CN">
                <a:solidFill>
                  <a:schemeClr val="tx1"/>
                </a:solidFill>
              </a:rPr>
              <a:t>)</a:t>
            </a:r>
            <a:endParaRPr kumimoji="1" lang="en-US" altLang="zh-CN">
              <a:solidFill>
                <a:schemeClr val="tx1"/>
              </a:solidFill>
            </a:endParaRPr>
          </a:p>
        </p:txBody>
      </p:sp>
      <p:sp>
        <p:nvSpPr>
          <p:cNvPr id="21" name="圆角矩形 20"/>
          <p:cNvSpPr/>
          <p:nvPr/>
        </p:nvSpPr>
        <p:spPr>
          <a:xfrm>
            <a:off x="7394575" y="3439160"/>
            <a:ext cx="2799715" cy="401955"/>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solidFill>
                  <a:schemeClr val="tx1"/>
                </a:solidFill>
              </a:rPr>
              <a:t>Route planning</a:t>
            </a:r>
            <a:endParaRPr kumimoji="1" lang="en-US" altLang="zh-CN">
              <a:solidFill>
                <a:schemeClr val="tx1"/>
              </a:solidFill>
            </a:endParaRPr>
          </a:p>
        </p:txBody>
      </p:sp>
      <p:sp>
        <p:nvSpPr>
          <p:cNvPr id="22" name="圆角矩形 21"/>
          <p:cNvSpPr/>
          <p:nvPr/>
        </p:nvSpPr>
        <p:spPr>
          <a:xfrm>
            <a:off x="7394575" y="3966210"/>
            <a:ext cx="2796540" cy="389890"/>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b="1">
                <a:solidFill>
                  <a:srgbClr val="7030A0"/>
                </a:solidFill>
              </a:rPr>
              <a:t>Keyboard</a:t>
            </a:r>
            <a:r>
              <a:rPr kumimoji="1" lang="en-US" altLang="zh-CN">
                <a:solidFill>
                  <a:schemeClr val="tx1"/>
                </a:solidFill>
              </a:rPr>
              <a:t> action</a:t>
            </a:r>
            <a:endParaRPr kumimoji="1" lang="en-US" altLang="zh-CN">
              <a:solidFill>
                <a:schemeClr val="tx1"/>
              </a:solidFill>
            </a:endParaRPr>
          </a:p>
        </p:txBody>
      </p:sp>
      <p:sp>
        <p:nvSpPr>
          <p:cNvPr id="23" name="圆角矩形 22"/>
          <p:cNvSpPr/>
          <p:nvPr/>
        </p:nvSpPr>
        <p:spPr>
          <a:xfrm>
            <a:off x="7394575" y="4481195"/>
            <a:ext cx="2800350" cy="627380"/>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b="1">
                <a:solidFill>
                  <a:schemeClr val="accent1">
                    <a:lumMod val="40000"/>
                    <a:lumOff val="60000"/>
                  </a:schemeClr>
                </a:solidFill>
              </a:rPr>
              <a:t>Mouse</a:t>
            </a:r>
            <a:r>
              <a:rPr kumimoji="1" lang="en-US" altLang="zh-CN">
                <a:solidFill>
                  <a:schemeClr val="tx1"/>
                </a:solidFill>
              </a:rPr>
              <a:t> action</a:t>
            </a:r>
            <a:br>
              <a:rPr kumimoji="1" lang="en-US" altLang="zh-CN">
                <a:solidFill>
                  <a:schemeClr val="tx1"/>
                </a:solidFill>
              </a:rPr>
            </a:br>
            <a:r>
              <a:rPr kumimoji="1" lang="en-US" altLang="zh-CN">
                <a:solidFill>
                  <a:schemeClr val="tx1"/>
                </a:solidFill>
              </a:rPr>
              <a:t>(with image supervised)</a:t>
            </a:r>
            <a:endParaRPr kumimoji="1" lang="en-US" altLang="zh-CN">
              <a:solidFill>
                <a:schemeClr val="tx1"/>
              </a:solidFill>
            </a:endParaRPr>
          </a:p>
        </p:txBody>
      </p:sp>
      <p:cxnSp>
        <p:nvCxnSpPr>
          <p:cNvPr id="29" name="直接箭头连接符 28"/>
          <p:cNvCxnSpPr/>
          <p:nvPr/>
        </p:nvCxnSpPr>
        <p:spPr>
          <a:xfrm flipH="1">
            <a:off x="2717800" y="4030980"/>
            <a:ext cx="4505960" cy="0"/>
          </a:xfrm>
          <a:prstGeom prst="straightConnector1">
            <a:avLst/>
          </a:prstGeom>
          <a:ln w="25400">
            <a:solidFill>
              <a:srgbClr val="00B050"/>
            </a:solidFill>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p:nvPr/>
        </p:nvCxnSpPr>
        <p:spPr>
          <a:xfrm flipH="1">
            <a:off x="2717800" y="4749165"/>
            <a:ext cx="4505960" cy="0"/>
          </a:xfrm>
          <a:prstGeom prst="straightConnector1">
            <a:avLst/>
          </a:prstGeom>
          <a:ln w="25400">
            <a:solidFill>
              <a:srgbClr val="00B050"/>
            </a:solidFill>
            <a:tailEnd type="arrow"/>
          </a:ln>
        </p:spPr>
        <p:style>
          <a:lnRef idx="2">
            <a:schemeClr val="accent1"/>
          </a:lnRef>
          <a:fillRef idx="0">
            <a:srgbClr val="FFFFFF"/>
          </a:fillRef>
          <a:effectRef idx="0">
            <a:srgbClr val="FFFFFF"/>
          </a:effectRef>
          <a:fontRef idx="minor">
            <a:schemeClr val="tx1"/>
          </a:fontRef>
        </p:style>
      </p:cxnSp>
      <p:cxnSp>
        <p:nvCxnSpPr>
          <p:cNvPr id="31" name="直接箭头连接符 30"/>
          <p:cNvCxnSpPr/>
          <p:nvPr/>
        </p:nvCxnSpPr>
        <p:spPr>
          <a:xfrm>
            <a:off x="2758440" y="4165600"/>
            <a:ext cx="4486275" cy="0"/>
          </a:xfrm>
          <a:prstGeom prst="straightConnector1">
            <a:avLst/>
          </a:prstGeom>
          <a:ln w="25400">
            <a:solidFill>
              <a:srgbClr val="7030A0"/>
            </a:solidFill>
            <a:tailEnd type="arrow"/>
          </a:ln>
        </p:spPr>
        <p:style>
          <a:lnRef idx="2">
            <a:schemeClr val="accent1"/>
          </a:lnRef>
          <a:fillRef idx="0">
            <a:srgbClr val="FFFFFF"/>
          </a:fillRef>
          <a:effectRef idx="0">
            <a:srgbClr val="FFFFFF"/>
          </a:effectRef>
          <a:fontRef idx="minor">
            <a:schemeClr val="tx1"/>
          </a:fontRef>
        </p:style>
      </p:cxnSp>
      <p:cxnSp>
        <p:nvCxnSpPr>
          <p:cNvPr id="32" name="直接箭头连接符 31"/>
          <p:cNvCxnSpPr/>
          <p:nvPr/>
        </p:nvCxnSpPr>
        <p:spPr>
          <a:xfrm>
            <a:off x="2758440" y="4890135"/>
            <a:ext cx="4486275" cy="0"/>
          </a:xfrm>
          <a:prstGeom prst="straightConnector1">
            <a:avLst/>
          </a:prstGeom>
          <a:ln w="25400">
            <a:solidFill>
              <a:schemeClr val="accent1">
                <a:lumMod val="40000"/>
                <a:lumOff val="60000"/>
              </a:schemeClr>
            </a:solidFill>
            <a:tailEnd type="arrow"/>
          </a:ln>
        </p:spPr>
        <p:style>
          <a:lnRef idx="2">
            <a:schemeClr val="accent1"/>
          </a:lnRef>
          <a:fillRef idx="0">
            <a:srgbClr val="FFFFFF"/>
          </a:fillRef>
          <a:effectRef idx="0">
            <a:srgbClr val="FFFFFF"/>
          </a:effectRef>
          <a:fontRef idx="minor">
            <a:schemeClr val="tx1"/>
          </a:fontRef>
        </p:style>
      </p:cxnSp>
      <p:sp>
        <p:nvSpPr>
          <p:cNvPr id="33" name="爆炸形 1 32"/>
          <p:cNvSpPr/>
          <p:nvPr/>
        </p:nvSpPr>
        <p:spPr>
          <a:xfrm>
            <a:off x="9364345" y="2364105"/>
            <a:ext cx="1245235" cy="629920"/>
          </a:xfrm>
          <a:prstGeom prst="irregularSeal1">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t>Core</a:t>
            </a:r>
            <a:endParaRPr kumimoji="1" lang="en-US" altLang="zh-CN"/>
          </a:p>
        </p:txBody>
      </p:sp>
      <p:sp>
        <p:nvSpPr>
          <p:cNvPr id="34" name="上弧形箭头 33"/>
          <p:cNvSpPr/>
          <p:nvPr/>
        </p:nvSpPr>
        <p:spPr>
          <a:xfrm flipV="1">
            <a:off x="2528570" y="5668010"/>
            <a:ext cx="4866005" cy="592455"/>
          </a:xfrm>
          <a:prstGeom prst="curved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solidFill>
                <a:schemeClr val="tx1"/>
              </a:solidFill>
            </a:endParaRPr>
          </a:p>
        </p:txBody>
      </p:sp>
      <p:sp>
        <p:nvSpPr>
          <p:cNvPr id="35" name="文本框 34"/>
          <p:cNvSpPr txBox="1"/>
          <p:nvPr/>
        </p:nvSpPr>
        <p:spPr>
          <a:xfrm>
            <a:off x="4465955" y="3731895"/>
            <a:ext cx="1781175" cy="306705"/>
          </a:xfrm>
          <a:prstGeom prst="rect">
            <a:avLst/>
          </a:prstGeom>
          <a:noFill/>
        </p:spPr>
        <p:txBody>
          <a:bodyPr wrap="square" rtlCol="0">
            <a:spAutoFit/>
          </a:bodyPr>
          <a:p>
            <a:r>
              <a:rPr lang="en-US" altLang="zh-CN" sz="1400">
                <a:solidFill>
                  <a:srgbClr val="00B050"/>
                </a:solidFill>
              </a:rPr>
              <a:t>Key command</a:t>
            </a:r>
            <a:endParaRPr lang="en-US" altLang="zh-CN" sz="1400">
              <a:solidFill>
                <a:srgbClr val="00B050"/>
              </a:solidFill>
            </a:endParaRPr>
          </a:p>
        </p:txBody>
      </p:sp>
      <p:sp>
        <p:nvSpPr>
          <p:cNvPr id="36" name="文本框 35"/>
          <p:cNvSpPr txBox="1"/>
          <p:nvPr/>
        </p:nvSpPr>
        <p:spPr>
          <a:xfrm>
            <a:off x="4316730" y="4171315"/>
            <a:ext cx="1781175" cy="306705"/>
          </a:xfrm>
          <a:prstGeom prst="rect">
            <a:avLst/>
          </a:prstGeom>
          <a:noFill/>
        </p:spPr>
        <p:txBody>
          <a:bodyPr wrap="square" rtlCol="0">
            <a:spAutoFit/>
          </a:bodyPr>
          <a:p>
            <a:r>
              <a:rPr lang="en-US" altLang="zh-CN" sz="1400">
                <a:solidFill>
                  <a:srgbClr val="7030A0"/>
                </a:solidFill>
              </a:rPr>
              <a:t>Keyboard HID key</a:t>
            </a:r>
            <a:endParaRPr lang="en-US" altLang="zh-CN" sz="1400">
              <a:solidFill>
                <a:srgbClr val="7030A0"/>
              </a:solidFill>
            </a:endParaRPr>
          </a:p>
        </p:txBody>
      </p:sp>
      <p:sp>
        <p:nvSpPr>
          <p:cNvPr id="37" name="文本框 36"/>
          <p:cNvSpPr txBox="1"/>
          <p:nvPr/>
        </p:nvSpPr>
        <p:spPr>
          <a:xfrm>
            <a:off x="4189730" y="4450715"/>
            <a:ext cx="2413635" cy="306705"/>
          </a:xfrm>
          <a:prstGeom prst="rect">
            <a:avLst/>
          </a:prstGeom>
          <a:noFill/>
        </p:spPr>
        <p:txBody>
          <a:bodyPr wrap="square" rtlCol="0">
            <a:spAutoFit/>
          </a:bodyPr>
          <a:p>
            <a:r>
              <a:rPr lang="en-US" altLang="zh-CN" sz="1400">
                <a:solidFill>
                  <a:srgbClr val="00B050"/>
                </a:solidFill>
              </a:rPr>
              <a:t>Mouse move command</a:t>
            </a:r>
            <a:endParaRPr lang="en-US" altLang="zh-CN" sz="1400">
              <a:solidFill>
                <a:srgbClr val="00B050"/>
              </a:solidFill>
            </a:endParaRPr>
          </a:p>
        </p:txBody>
      </p:sp>
      <p:sp>
        <p:nvSpPr>
          <p:cNvPr id="38" name="文本框 37"/>
          <p:cNvSpPr txBox="1"/>
          <p:nvPr/>
        </p:nvSpPr>
        <p:spPr>
          <a:xfrm>
            <a:off x="4189730" y="4885690"/>
            <a:ext cx="2413635" cy="306705"/>
          </a:xfrm>
          <a:prstGeom prst="rect">
            <a:avLst/>
          </a:prstGeom>
          <a:noFill/>
        </p:spPr>
        <p:txBody>
          <a:bodyPr wrap="square" rtlCol="0">
            <a:spAutoFit/>
          </a:bodyPr>
          <a:p>
            <a:r>
              <a:rPr lang="en-US" altLang="zh-CN" sz="1400">
                <a:solidFill>
                  <a:schemeClr val="accent1">
                    <a:lumMod val="40000"/>
                    <a:lumOff val="60000"/>
                  </a:schemeClr>
                </a:solidFill>
              </a:rPr>
              <a:t>Mouse HID move action</a:t>
            </a:r>
            <a:endParaRPr lang="en-US" altLang="zh-CN" sz="1400">
              <a:solidFill>
                <a:schemeClr val="accent1">
                  <a:lumMod val="40000"/>
                  <a:lumOff val="60000"/>
                </a:schemeClr>
              </a:solidFill>
            </a:endParaRPr>
          </a:p>
        </p:txBody>
      </p:sp>
      <p:sp>
        <p:nvSpPr>
          <p:cNvPr id="39" name="圆角矩形 38"/>
          <p:cNvSpPr/>
          <p:nvPr/>
        </p:nvSpPr>
        <p:spPr>
          <a:xfrm>
            <a:off x="7446010" y="5428615"/>
            <a:ext cx="1732915" cy="558800"/>
          </a:xfrm>
          <a:prstGeom prst="round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solidFill>
                  <a:schemeClr val="tx1"/>
                </a:solidFill>
              </a:rPr>
              <a:t>Speech to Text</a:t>
            </a:r>
            <a:endParaRPr kumimoji="1" lang="en-US" altLang="zh-CN">
              <a:solidFill>
                <a:schemeClr val="tx1"/>
              </a:solidFill>
            </a:endParaRPr>
          </a:p>
        </p:txBody>
      </p:sp>
      <p:sp>
        <p:nvSpPr>
          <p:cNvPr id="40" name="文本框 39"/>
          <p:cNvSpPr txBox="1"/>
          <p:nvPr/>
        </p:nvSpPr>
        <p:spPr>
          <a:xfrm>
            <a:off x="3834130" y="5752465"/>
            <a:ext cx="2094230" cy="368300"/>
          </a:xfrm>
          <a:prstGeom prst="rect">
            <a:avLst/>
          </a:prstGeom>
          <a:noFill/>
        </p:spPr>
        <p:txBody>
          <a:bodyPr wrap="square" rtlCol="0">
            <a:spAutoFit/>
          </a:bodyPr>
          <a:p>
            <a:r>
              <a:rPr lang="en-US" altLang="zh-CN"/>
              <a:t>Voice Command</a:t>
            </a:r>
            <a:endParaRPr lang="en-US" altLang="zh-CN"/>
          </a:p>
        </p:txBody>
      </p:sp>
      <p:sp>
        <p:nvSpPr>
          <p:cNvPr id="41" name="圆角矩形 40"/>
          <p:cNvSpPr/>
          <p:nvPr/>
        </p:nvSpPr>
        <p:spPr>
          <a:xfrm>
            <a:off x="9364345" y="5428615"/>
            <a:ext cx="2341245" cy="558800"/>
          </a:xfrm>
          <a:prstGeom prst="round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solidFill>
                  <a:schemeClr val="tx1"/>
                </a:solidFill>
              </a:rPr>
              <a:t>Intention Analyzation</a:t>
            </a:r>
            <a:endParaRPr kumimoji="1" lang="en-US" altLang="zh-CN">
              <a:solidFill>
                <a:schemeClr val="tx1"/>
              </a:solidFill>
            </a:endParaRPr>
          </a:p>
        </p:txBody>
      </p:sp>
      <p:cxnSp>
        <p:nvCxnSpPr>
          <p:cNvPr id="42" name="曲线连接符 41"/>
          <p:cNvCxnSpPr/>
          <p:nvPr/>
        </p:nvCxnSpPr>
        <p:spPr>
          <a:xfrm flipH="1" flipV="1">
            <a:off x="10254615" y="3000375"/>
            <a:ext cx="1511935" cy="2707640"/>
          </a:xfrm>
          <a:prstGeom prst="curvedConnector3">
            <a:avLst>
              <a:gd name="adj1" fmla="val -20537"/>
            </a:avLst>
          </a:prstGeom>
          <a:ln w="25400">
            <a:solidFill>
              <a:schemeClr val="accent2"/>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Wafer ID Reader</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pic>
        <p:nvPicPr>
          <p:cNvPr id="8" name="图片 7" descr="整体接线(压缩)"/>
          <p:cNvPicPr>
            <a:picLocks noChangeAspect="1"/>
          </p:cNvPicPr>
          <p:nvPr/>
        </p:nvPicPr>
        <p:blipFill>
          <a:blip r:embed="rId1"/>
          <a:stretch>
            <a:fillRect/>
          </a:stretch>
        </p:blipFill>
        <p:spPr>
          <a:xfrm>
            <a:off x="416560" y="1571625"/>
            <a:ext cx="5631815" cy="4224020"/>
          </a:xfrm>
          <a:prstGeom prst="rect">
            <a:avLst/>
          </a:prstGeom>
        </p:spPr>
      </p:pic>
      <p:pic>
        <p:nvPicPr>
          <p:cNvPr id="5" name="图片 4"/>
          <p:cNvPicPr>
            <a:picLocks noChangeAspect="1"/>
          </p:cNvPicPr>
          <p:nvPr/>
        </p:nvPicPr>
        <p:blipFill>
          <a:blip r:embed="rId2"/>
          <a:stretch>
            <a:fillRect/>
          </a:stretch>
        </p:blipFill>
        <p:spPr>
          <a:xfrm>
            <a:off x="7016115" y="1490980"/>
            <a:ext cx="4229100" cy="4191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Wafer ID Reader</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rcRect t="685"/>
          <a:stretch>
            <a:fillRect/>
          </a:stretch>
        </p:blipFill>
        <p:spPr>
          <a:xfrm>
            <a:off x="2152650" y="1234440"/>
            <a:ext cx="7886700" cy="44196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OCR</a:t>
            </a:r>
            <a:endParaRPr kumimoji="1" lang="en-US"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pic>
        <p:nvPicPr>
          <p:cNvPr id="4" name="图片 3"/>
          <p:cNvPicPr>
            <a:picLocks noChangeAspect="1"/>
          </p:cNvPicPr>
          <p:nvPr>
            <p:custDataLst>
              <p:tags r:id="rId1"/>
            </p:custDataLst>
          </p:nvPr>
        </p:nvPicPr>
        <p:blipFill>
          <a:blip r:embed="rId2"/>
          <a:stretch>
            <a:fillRect/>
          </a:stretch>
        </p:blipFill>
        <p:spPr>
          <a:xfrm>
            <a:off x="7663815" y="1169035"/>
            <a:ext cx="3578225" cy="1937385"/>
          </a:xfrm>
          <a:prstGeom prst="rect">
            <a:avLst/>
          </a:prstGeom>
        </p:spPr>
      </p:pic>
      <p:pic>
        <p:nvPicPr>
          <p:cNvPr id="6" name="图片 5" descr="定制柱透镜"/>
          <p:cNvPicPr>
            <a:picLocks noChangeAspect="1"/>
          </p:cNvPicPr>
          <p:nvPr/>
        </p:nvPicPr>
        <p:blipFill>
          <a:blip r:embed="rId3"/>
          <a:stretch>
            <a:fillRect/>
          </a:stretch>
        </p:blipFill>
        <p:spPr>
          <a:xfrm>
            <a:off x="749300" y="1168400"/>
            <a:ext cx="4491355" cy="3367405"/>
          </a:xfrm>
          <a:prstGeom prst="rect">
            <a:avLst/>
          </a:prstGeom>
        </p:spPr>
      </p:pic>
      <p:pic>
        <p:nvPicPr>
          <p:cNvPr id="8" name="图片 7"/>
          <p:cNvPicPr>
            <a:picLocks noChangeAspect="1"/>
          </p:cNvPicPr>
          <p:nvPr>
            <p:custDataLst>
              <p:tags r:id="rId4"/>
            </p:custDataLst>
          </p:nvPr>
        </p:nvPicPr>
        <p:blipFill>
          <a:blip r:embed="rId5"/>
          <a:stretch>
            <a:fillRect/>
          </a:stretch>
        </p:blipFill>
        <p:spPr>
          <a:xfrm>
            <a:off x="6939280" y="3316605"/>
            <a:ext cx="5027930" cy="1615440"/>
          </a:xfrm>
          <a:prstGeom prst="rect">
            <a:avLst/>
          </a:prstGeom>
        </p:spPr>
      </p:pic>
      <p:pic>
        <p:nvPicPr>
          <p:cNvPr id="9" name="图片 8"/>
          <p:cNvPicPr>
            <a:picLocks noChangeAspect="1"/>
          </p:cNvPicPr>
          <p:nvPr>
            <p:custDataLst>
              <p:tags r:id="rId6"/>
            </p:custDataLst>
          </p:nvPr>
        </p:nvPicPr>
        <p:blipFill>
          <a:blip r:embed="rId7"/>
          <a:stretch>
            <a:fillRect/>
          </a:stretch>
        </p:blipFill>
        <p:spPr>
          <a:xfrm>
            <a:off x="6939280" y="5125720"/>
            <a:ext cx="5027930" cy="1531620"/>
          </a:xfrm>
          <a:prstGeom prst="rect">
            <a:avLst/>
          </a:prstGeom>
        </p:spPr>
      </p:pic>
      <p:pic>
        <p:nvPicPr>
          <p:cNvPr id="10" name="图片 9" descr="2023-07-09_16-48-21-286"/>
          <p:cNvPicPr>
            <a:picLocks noChangeAspect="1"/>
          </p:cNvPicPr>
          <p:nvPr/>
        </p:nvPicPr>
        <p:blipFill>
          <a:blip r:embed="rId8"/>
          <a:stretch>
            <a:fillRect/>
          </a:stretch>
        </p:blipFill>
        <p:spPr>
          <a:xfrm>
            <a:off x="306705" y="4798695"/>
            <a:ext cx="2174875" cy="1631950"/>
          </a:xfrm>
          <a:prstGeom prst="rect">
            <a:avLst/>
          </a:prstGeom>
        </p:spPr>
      </p:pic>
      <p:pic>
        <p:nvPicPr>
          <p:cNvPr id="11" name="图片 10" descr="image"/>
          <p:cNvPicPr>
            <a:picLocks noChangeAspect="1"/>
          </p:cNvPicPr>
          <p:nvPr/>
        </p:nvPicPr>
        <p:blipFill>
          <a:blip r:embed="rId9"/>
          <a:stretch>
            <a:fillRect/>
          </a:stretch>
        </p:blipFill>
        <p:spPr>
          <a:xfrm>
            <a:off x="3623310" y="4799965"/>
            <a:ext cx="2174240" cy="1630680"/>
          </a:xfrm>
          <a:prstGeom prst="rect">
            <a:avLst/>
          </a:prstGeom>
        </p:spPr>
      </p:pic>
      <p:sp>
        <p:nvSpPr>
          <p:cNvPr id="12" name="右箭头 11"/>
          <p:cNvSpPr/>
          <p:nvPr/>
        </p:nvSpPr>
        <p:spPr>
          <a:xfrm>
            <a:off x="2674620" y="5380990"/>
            <a:ext cx="812800" cy="503555"/>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13" name="文本框 12"/>
          <p:cNvSpPr txBox="1"/>
          <p:nvPr/>
        </p:nvSpPr>
        <p:spPr>
          <a:xfrm>
            <a:off x="2419350" y="800735"/>
            <a:ext cx="1203960" cy="368300"/>
          </a:xfrm>
          <a:prstGeom prst="rect">
            <a:avLst/>
          </a:prstGeom>
          <a:noFill/>
        </p:spPr>
        <p:txBody>
          <a:bodyPr wrap="square" rtlCol="0">
            <a:spAutoFit/>
          </a:bodyPr>
          <a:p>
            <a:r>
              <a:rPr lang="en-US" altLang="zh-CN" b="1"/>
              <a:t>Hardware</a:t>
            </a:r>
            <a:endParaRPr lang="en-US" altLang="zh-CN" b="1"/>
          </a:p>
        </p:txBody>
      </p:sp>
      <p:sp>
        <p:nvSpPr>
          <p:cNvPr id="16" name="文本框 15"/>
          <p:cNvSpPr txBox="1"/>
          <p:nvPr/>
        </p:nvSpPr>
        <p:spPr>
          <a:xfrm>
            <a:off x="8182610" y="797560"/>
            <a:ext cx="2540635" cy="368300"/>
          </a:xfrm>
          <a:prstGeom prst="rect">
            <a:avLst/>
          </a:prstGeom>
          <a:noFill/>
        </p:spPr>
        <p:txBody>
          <a:bodyPr wrap="square" rtlCol="0">
            <a:spAutoFit/>
          </a:bodyPr>
          <a:p>
            <a:r>
              <a:rPr lang="en-US" altLang="zh-CN" b="1"/>
              <a:t>Software &amp; Algorithm</a:t>
            </a:r>
            <a:endParaRPr lang="en-US" altLang="zh-CN" b="1"/>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Wafer ID Reader Workflow</a:t>
            </a:r>
            <a:endParaRPr kumimoji="1"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pic>
        <p:nvPicPr>
          <p:cNvPr id="6" name="图片 5" descr="软件响应流程2"/>
          <p:cNvPicPr>
            <a:picLocks noChangeAspect="1"/>
          </p:cNvPicPr>
          <p:nvPr/>
        </p:nvPicPr>
        <p:blipFill>
          <a:blip r:embed="rId1"/>
          <a:stretch>
            <a:fillRect/>
          </a:stretch>
        </p:blipFill>
        <p:spPr>
          <a:xfrm>
            <a:off x="133350" y="956310"/>
            <a:ext cx="11924665" cy="5315585"/>
          </a:xfrm>
          <a:prstGeom prst="rect">
            <a:avLst/>
          </a:prstGeom>
        </p:spPr>
      </p:pic>
      <p:graphicFrame>
        <p:nvGraphicFramePr>
          <p:cNvPr id="4" name="对象 3"/>
          <p:cNvGraphicFramePr/>
          <p:nvPr/>
        </p:nvGraphicFramePr>
        <p:xfrm>
          <a:off x="7617460" y="3773805"/>
          <a:ext cx="3722370" cy="2849880"/>
        </p:xfrm>
        <a:graphic>
          <a:graphicData uri="http://schemas.openxmlformats.org/presentationml/2006/ole">
            <mc:AlternateContent xmlns:mc="http://schemas.openxmlformats.org/markup-compatibility/2006">
              <mc:Choice xmlns:v="urn:schemas-microsoft-com:vml" Requires="v">
                <p:oleObj spid="_x0000_s5" name="" r:id="rId2" imgW="6309360" imgH="4831080" progId="Paint.Picture">
                  <p:embed/>
                </p:oleObj>
              </mc:Choice>
              <mc:Fallback>
                <p:oleObj name="" r:id="rId2" imgW="6309360" imgH="4831080" progId="Paint.Picture">
                  <p:embed/>
                  <p:pic>
                    <p:nvPicPr>
                      <p:cNvPr id="0" name="图片 4"/>
                      <p:cNvPicPr/>
                      <p:nvPr/>
                    </p:nvPicPr>
                    <p:blipFill>
                      <a:blip r:embed="rId3"/>
                      <a:stretch>
                        <a:fillRect/>
                      </a:stretch>
                    </p:blipFill>
                    <p:spPr>
                      <a:xfrm>
                        <a:off x="7617460" y="3773805"/>
                        <a:ext cx="3722370" cy="2849880"/>
                      </a:xfrm>
                      <a:prstGeom prst="rect">
                        <a:avLst/>
                      </a:prstGeom>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Smart Robot Arm</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2695575" y="1621155"/>
            <a:ext cx="6553200" cy="39243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000" y="180340"/>
            <a:ext cx="7456805"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Smart Robot Arm Workflow</a:t>
            </a:r>
            <a:endParaRPr kumimoji="1" lang="en-GB"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pic>
        <p:nvPicPr>
          <p:cNvPr id="3" name="图片 2" descr="20240617-总结"/>
          <p:cNvPicPr>
            <a:picLocks noChangeAspect="1"/>
          </p:cNvPicPr>
          <p:nvPr/>
        </p:nvPicPr>
        <p:blipFill>
          <a:blip r:embed="rId1"/>
          <a:stretch>
            <a:fillRect/>
          </a:stretch>
        </p:blipFill>
        <p:spPr>
          <a:xfrm>
            <a:off x="-8255" y="694055"/>
            <a:ext cx="12192000" cy="57531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000" y="180340"/>
            <a:ext cx="7456805"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ACT (Action Chunking with Transformers)</a:t>
            </a:r>
            <a:endParaRPr kumimoji="1" lang="en-GB" altLang="zh-CN"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318135" y="997585"/>
            <a:ext cx="8229600" cy="5513070"/>
          </a:xfrm>
          <a:prstGeom prst="rect">
            <a:avLst/>
          </a:prstGeom>
        </p:spPr>
      </p:pic>
      <p:pic>
        <p:nvPicPr>
          <p:cNvPr id="6" name="图片 5"/>
          <p:cNvPicPr>
            <a:picLocks noChangeAspect="1"/>
          </p:cNvPicPr>
          <p:nvPr/>
        </p:nvPicPr>
        <p:blipFill>
          <a:blip r:embed="rId2"/>
          <a:stretch>
            <a:fillRect/>
          </a:stretch>
        </p:blipFill>
        <p:spPr>
          <a:xfrm>
            <a:off x="9131300" y="823595"/>
            <a:ext cx="2515235" cy="1444625"/>
          </a:xfrm>
          <a:prstGeom prst="rect">
            <a:avLst/>
          </a:prstGeom>
        </p:spPr>
      </p:pic>
      <p:pic>
        <p:nvPicPr>
          <p:cNvPr id="8" name="图片 7"/>
          <p:cNvPicPr>
            <a:picLocks noChangeAspect="1"/>
          </p:cNvPicPr>
          <p:nvPr/>
        </p:nvPicPr>
        <p:blipFill>
          <a:blip r:embed="rId3"/>
          <a:stretch>
            <a:fillRect/>
          </a:stretch>
        </p:blipFill>
        <p:spPr>
          <a:xfrm>
            <a:off x="9131300" y="2326640"/>
            <a:ext cx="2515235" cy="1449070"/>
          </a:xfrm>
          <a:prstGeom prst="rect">
            <a:avLst/>
          </a:prstGeom>
        </p:spPr>
      </p:pic>
      <p:pic>
        <p:nvPicPr>
          <p:cNvPr id="9" name="图片 8"/>
          <p:cNvPicPr>
            <a:picLocks noChangeAspect="1"/>
          </p:cNvPicPr>
          <p:nvPr/>
        </p:nvPicPr>
        <p:blipFill>
          <a:blip r:embed="rId4"/>
          <a:stretch>
            <a:fillRect/>
          </a:stretch>
        </p:blipFill>
        <p:spPr>
          <a:xfrm>
            <a:off x="9131300" y="3834130"/>
            <a:ext cx="2514600" cy="1440815"/>
          </a:xfrm>
          <a:prstGeom prst="rect">
            <a:avLst/>
          </a:prstGeom>
        </p:spPr>
      </p:pic>
      <p:pic>
        <p:nvPicPr>
          <p:cNvPr id="10" name="图片 9"/>
          <p:cNvPicPr>
            <a:picLocks noChangeAspect="1"/>
          </p:cNvPicPr>
          <p:nvPr/>
        </p:nvPicPr>
        <p:blipFill>
          <a:blip r:embed="rId5"/>
          <a:stretch>
            <a:fillRect/>
          </a:stretch>
        </p:blipFill>
        <p:spPr>
          <a:xfrm>
            <a:off x="9131300" y="5333365"/>
            <a:ext cx="2515235" cy="14230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147" y="180648"/>
            <a:ext cx="6109138"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Robot Arm Trajectories</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9" name="文本框 8"/>
          <p:cNvSpPr txBox="1"/>
          <p:nvPr>
            <p:custDataLst>
              <p:tags r:id="rId1"/>
            </p:custDataLst>
          </p:nvPr>
        </p:nvSpPr>
        <p:spPr>
          <a:xfrm>
            <a:off x="6825615" y="937260"/>
            <a:ext cx="1440180" cy="534035"/>
          </a:xfrm>
          <a:prstGeom prst="rect">
            <a:avLst/>
          </a:prstGeom>
          <a:noFill/>
        </p:spPr>
        <p:txBody>
          <a:bodyPr wrap="square">
            <a:spAutoFit/>
          </a:bodyPr>
          <a:p>
            <a:pPr>
              <a:lnSpc>
                <a:spcPct val="120000"/>
              </a:lnSpc>
            </a:pPr>
            <a:r>
              <a:rPr kumimoji="1" lang="en-US"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sym typeface="+mn-ea"/>
              </a:rPr>
              <a:t>Inference</a:t>
            </a:r>
            <a:endParaRPr kumimoji="1" lang="en-US"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p:cNvSpPr txBox="1"/>
          <p:nvPr>
            <p:custDataLst>
              <p:tags r:id="rId2"/>
            </p:custDataLst>
          </p:nvPr>
        </p:nvSpPr>
        <p:spPr>
          <a:xfrm>
            <a:off x="339725" y="937260"/>
            <a:ext cx="1318895" cy="534035"/>
          </a:xfrm>
          <a:prstGeom prst="rect">
            <a:avLst/>
          </a:prstGeom>
          <a:noFill/>
        </p:spPr>
        <p:txBody>
          <a:bodyPr wrap="square">
            <a:spAutoFit/>
          </a:bodyPr>
          <a:p>
            <a:pPr>
              <a:lnSpc>
                <a:spcPct val="120000"/>
              </a:lnSpc>
            </a:pPr>
            <a:r>
              <a:rPr kumimoji="1" lang="en-US"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Training</a:t>
            </a:r>
            <a:endParaRPr kumimoji="1" lang="en-US" sz="24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1289050" y="1795145"/>
            <a:ext cx="8564880" cy="43815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000" y="180340"/>
            <a:ext cx="6428105"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Molecules Dynamics Objection</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pic>
        <p:nvPicPr>
          <p:cNvPr id="30" name="图片 30" descr="Supercell_1"/>
          <p:cNvPicPr>
            <a:picLocks noChangeAspect="1"/>
          </p:cNvPicPr>
          <p:nvPr/>
        </p:nvPicPr>
        <p:blipFill>
          <a:blip r:embed="rId1"/>
          <a:srcRect t="4163" r="-361"/>
          <a:stretch>
            <a:fillRect/>
          </a:stretch>
        </p:blipFill>
        <p:spPr>
          <a:xfrm>
            <a:off x="6304915" y="3688715"/>
            <a:ext cx="5271770" cy="2840355"/>
          </a:xfrm>
          <a:prstGeom prst="rect">
            <a:avLst/>
          </a:prstGeom>
        </p:spPr>
      </p:pic>
      <p:pic>
        <p:nvPicPr>
          <p:cNvPr id="29" name="图片 29" descr="Supercell_0"/>
          <p:cNvPicPr>
            <a:picLocks noChangeAspect="1"/>
          </p:cNvPicPr>
          <p:nvPr/>
        </p:nvPicPr>
        <p:blipFill>
          <a:blip r:embed="rId2"/>
          <a:srcRect t="4547" r="-36"/>
          <a:stretch>
            <a:fillRect/>
          </a:stretch>
        </p:blipFill>
        <p:spPr>
          <a:xfrm>
            <a:off x="508000" y="1135063"/>
            <a:ext cx="5274310" cy="2839085"/>
          </a:xfrm>
          <a:prstGeom prst="rect">
            <a:avLst/>
          </a:prstGeom>
        </p:spPr>
      </p:pic>
      <p:sp>
        <p:nvSpPr>
          <p:cNvPr id="4" name="直角上箭头 3"/>
          <p:cNvSpPr/>
          <p:nvPr/>
        </p:nvSpPr>
        <p:spPr>
          <a:xfrm rot="5400000">
            <a:off x="4700905" y="4449445"/>
            <a:ext cx="1123315" cy="1038860"/>
          </a:xfrm>
          <a:prstGeom prst="bentUp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39" descr="compare_v"/>
          <p:cNvPicPr>
            <a:picLocks noChangeAspect="1"/>
          </p:cNvPicPr>
          <p:nvPr/>
        </p:nvPicPr>
        <p:blipFill>
          <a:blip r:embed="rId1"/>
          <a:srcRect t="5044" r="241" b="5970"/>
          <a:stretch>
            <a:fillRect/>
          </a:stretch>
        </p:blipFill>
        <p:spPr>
          <a:xfrm>
            <a:off x="6817995" y="3677285"/>
            <a:ext cx="4537075" cy="2687320"/>
          </a:xfrm>
          <a:prstGeom prst="rect">
            <a:avLst/>
          </a:prstGeom>
        </p:spPr>
      </p:pic>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000" y="180340"/>
            <a:ext cx="8475345"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Molecules Dynamics with Different Platforms</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pic>
        <p:nvPicPr>
          <p:cNvPr id="24" name="图片 24" descr="All"/>
          <p:cNvPicPr>
            <a:picLocks noChangeAspect="1"/>
          </p:cNvPicPr>
          <p:nvPr/>
        </p:nvPicPr>
        <p:blipFill>
          <a:blip r:embed="rId2"/>
          <a:stretch>
            <a:fillRect/>
          </a:stretch>
        </p:blipFill>
        <p:spPr>
          <a:xfrm>
            <a:off x="836930" y="999490"/>
            <a:ext cx="10518140" cy="2964815"/>
          </a:xfrm>
          <a:prstGeom prst="rect">
            <a:avLst/>
          </a:prstGeom>
        </p:spPr>
      </p:pic>
      <p:sp>
        <p:nvSpPr>
          <p:cNvPr id="12" name="文本框 11"/>
          <p:cNvSpPr txBox="1"/>
          <p:nvPr/>
        </p:nvSpPr>
        <p:spPr>
          <a:xfrm>
            <a:off x="504190" y="6304280"/>
            <a:ext cx="11368405" cy="516890"/>
          </a:xfrm>
          <a:prstGeom prst="rect">
            <a:avLst/>
          </a:prstGeom>
          <a:noFill/>
        </p:spPr>
        <p:txBody>
          <a:bodyPr wrap="square" rtlCol="0">
            <a:noAutofit/>
          </a:bodyPr>
          <a:p>
            <a:r>
              <a:rPr lang="en-US" altLang="zh-CN" sz="1200" b="1" i="1"/>
              <a:t>[1] Y. Shi, Y. Chen, H. Dong, H. Wang, and P. Qian, “Investigation of phase transition, mechanical behavior and lattice thermal conductivity of halogen perovskites using machine learning interatomic potentials,” Physical Chemistry Chemical Physics, vol. 25, no. 44, pp. 30644–30655, 2023.</a:t>
            </a:r>
            <a:endParaRPr lang="en-US" altLang="zh-CN" sz="1200" b="1" i="1"/>
          </a:p>
        </p:txBody>
      </p:sp>
      <p:pic>
        <p:nvPicPr>
          <p:cNvPr id="38" name="图片 38" descr="compare_param"/>
          <p:cNvPicPr>
            <a:picLocks noChangeAspect="1"/>
          </p:cNvPicPr>
          <p:nvPr/>
        </p:nvPicPr>
        <p:blipFill>
          <a:blip r:embed="rId3"/>
          <a:srcRect t="6224" r="36" b="7770"/>
          <a:stretch>
            <a:fillRect/>
          </a:stretch>
        </p:blipFill>
        <p:spPr>
          <a:xfrm>
            <a:off x="636270" y="3799205"/>
            <a:ext cx="4823460" cy="242697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000" y="180340"/>
            <a:ext cx="9641840"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Combination of Algorithm Enginneering &amp; Clinic in Bones</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473710" y="3274060"/>
            <a:ext cx="3086100" cy="655320"/>
          </a:xfrm>
          <a:prstGeom prst="rect">
            <a:avLst/>
          </a:prstGeom>
        </p:spPr>
      </p:pic>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8" name="流程图: 联系 7"/>
          <p:cNvSpPr/>
          <p:nvPr/>
        </p:nvSpPr>
        <p:spPr>
          <a:xfrm>
            <a:off x="4853305" y="3800475"/>
            <a:ext cx="2084070" cy="2084070"/>
          </a:xfrm>
          <a:prstGeom prst="flowChartConnector">
            <a:avLst/>
          </a:prstGeom>
          <a:gradFill>
            <a:gsLst>
              <a:gs pos="50000">
                <a:schemeClr val="accent1"/>
              </a:gs>
              <a:gs pos="0">
                <a:schemeClr val="accent1">
                  <a:lumMod val="25000"/>
                  <a:lumOff val="75000"/>
                </a:schemeClr>
              </a:gs>
              <a:gs pos="100000">
                <a:schemeClr val="accent1">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t>Engineering</a:t>
            </a:r>
            <a:endParaRPr kumimoji="1" lang="en-US" altLang="zh-CN"/>
          </a:p>
        </p:txBody>
      </p:sp>
      <p:sp>
        <p:nvSpPr>
          <p:cNvPr id="9" name="流程图: 联系 8"/>
          <p:cNvSpPr/>
          <p:nvPr/>
        </p:nvSpPr>
        <p:spPr>
          <a:xfrm>
            <a:off x="3119120" y="1417320"/>
            <a:ext cx="2084070" cy="2084070"/>
          </a:xfrm>
          <a:prstGeom prst="flowChartConnector">
            <a:avLst/>
          </a:prstGeom>
          <a:gradFill>
            <a:gsLst>
              <a:gs pos="50000">
                <a:schemeClr val="accent5"/>
              </a:gs>
              <a:gs pos="0">
                <a:schemeClr val="accent5">
                  <a:lumMod val="25000"/>
                  <a:lumOff val="75000"/>
                </a:schemeClr>
              </a:gs>
              <a:gs pos="100000">
                <a:schemeClr val="accent5">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t>Algorithm</a:t>
            </a:r>
            <a:endParaRPr kumimoji="1" lang="en-US" altLang="zh-CN"/>
          </a:p>
        </p:txBody>
      </p:sp>
      <p:sp>
        <p:nvSpPr>
          <p:cNvPr id="13" name="流程图: 联系 12"/>
          <p:cNvSpPr/>
          <p:nvPr/>
        </p:nvSpPr>
        <p:spPr>
          <a:xfrm>
            <a:off x="6587490" y="1417320"/>
            <a:ext cx="2084070" cy="2084070"/>
          </a:xfrm>
          <a:prstGeom prst="flowChartConnector">
            <a:avLst/>
          </a:prstGeom>
          <a:gradFill>
            <a:gsLst>
              <a:gs pos="50000">
                <a:schemeClr val="accent6"/>
              </a:gs>
              <a:gs pos="0">
                <a:schemeClr val="accent6">
                  <a:lumMod val="25000"/>
                  <a:lumOff val="75000"/>
                </a:schemeClr>
              </a:gs>
              <a:gs pos="100000">
                <a:schemeClr val="accent6">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t>Clinic</a:t>
            </a:r>
            <a:endParaRPr kumimoji="1" lang="en-US" altLang="zh-CN"/>
          </a:p>
        </p:txBody>
      </p:sp>
      <p:sp>
        <p:nvSpPr>
          <p:cNvPr id="3" name="文本框 2"/>
          <p:cNvSpPr txBox="1"/>
          <p:nvPr/>
        </p:nvSpPr>
        <p:spPr>
          <a:xfrm>
            <a:off x="233680" y="1385570"/>
            <a:ext cx="2843530" cy="368300"/>
          </a:xfrm>
          <a:prstGeom prst="rect">
            <a:avLst/>
          </a:prstGeom>
          <a:noFill/>
        </p:spPr>
        <p:txBody>
          <a:bodyPr wrap="square" rtlCol="0">
            <a:spAutoFit/>
          </a:bodyPr>
          <a:p>
            <a:pPr marL="285750" indent="-285750">
              <a:buFont typeface="Arial" panose="020B0604020202020204" pitchFamily="34" charset="0"/>
              <a:buChar char="•"/>
            </a:pPr>
            <a:r>
              <a:rPr lang="en-US" altLang="zh-CN" b="1"/>
              <a:t>Finite Element Analysis</a:t>
            </a:r>
            <a:endParaRPr lang="en-US" altLang="zh-CN" b="1"/>
          </a:p>
        </p:txBody>
      </p:sp>
      <p:sp>
        <p:nvSpPr>
          <p:cNvPr id="4" name="文本框 3"/>
          <p:cNvSpPr txBox="1"/>
          <p:nvPr/>
        </p:nvSpPr>
        <p:spPr>
          <a:xfrm>
            <a:off x="233680" y="2812415"/>
            <a:ext cx="2722880" cy="368300"/>
          </a:xfrm>
          <a:prstGeom prst="rect">
            <a:avLst/>
          </a:prstGeom>
          <a:noFill/>
        </p:spPr>
        <p:txBody>
          <a:bodyPr wrap="square" rtlCol="0">
            <a:spAutoFit/>
          </a:bodyPr>
          <a:p>
            <a:pPr marL="285750" indent="-285750">
              <a:buFont typeface="Arial" panose="020B0604020202020204" pitchFamily="34" charset="0"/>
              <a:buChar char="•"/>
            </a:pPr>
            <a:r>
              <a:rPr lang="en-US" altLang="zh-CN" b="1"/>
              <a:t>Molecular Dynamics</a:t>
            </a:r>
            <a:endParaRPr lang="en-US" altLang="zh-CN" b="1"/>
          </a:p>
        </p:txBody>
      </p:sp>
      <p:sp>
        <p:nvSpPr>
          <p:cNvPr id="18" name="左大括号 17"/>
          <p:cNvSpPr/>
          <p:nvPr/>
        </p:nvSpPr>
        <p:spPr>
          <a:xfrm>
            <a:off x="697230" y="1933575"/>
            <a:ext cx="231775" cy="52387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文本框 5"/>
          <p:cNvSpPr txBox="1"/>
          <p:nvPr/>
        </p:nvSpPr>
        <p:spPr>
          <a:xfrm>
            <a:off x="929005" y="1814195"/>
            <a:ext cx="1828800" cy="306705"/>
          </a:xfrm>
          <a:prstGeom prst="rect">
            <a:avLst/>
          </a:prstGeom>
          <a:noFill/>
        </p:spPr>
        <p:txBody>
          <a:bodyPr wrap="square" rtlCol="0">
            <a:spAutoFit/>
          </a:bodyPr>
          <a:p>
            <a:pPr indent="0">
              <a:buNone/>
            </a:pPr>
            <a:r>
              <a:rPr lang="en-US" altLang="zh-CN" sz="1400" b="1"/>
              <a:t>Abaqus</a:t>
            </a:r>
            <a:endParaRPr lang="en-US" altLang="zh-CN" sz="1400" b="1"/>
          </a:p>
        </p:txBody>
      </p:sp>
      <p:sp>
        <p:nvSpPr>
          <p:cNvPr id="10" name="文本框 9"/>
          <p:cNvSpPr txBox="1"/>
          <p:nvPr/>
        </p:nvSpPr>
        <p:spPr>
          <a:xfrm>
            <a:off x="929640" y="2223770"/>
            <a:ext cx="1828165" cy="337185"/>
          </a:xfrm>
          <a:prstGeom prst="rect">
            <a:avLst/>
          </a:prstGeom>
          <a:noFill/>
        </p:spPr>
        <p:txBody>
          <a:bodyPr wrap="square" rtlCol="0">
            <a:spAutoFit/>
          </a:bodyPr>
          <a:p>
            <a:pPr indent="0">
              <a:buNone/>
            </a:pPr>
            <a:r>
              <a:rPr lang="en-US" altLang="zh-CN" sz="1600" b="1"/>
              <a:t>Ansys</a:t>
            </a:r>
            <a:endParaRPr lang="en-US" altLang="zh-CN" sz="1600" b="1"/>
          </a:p>
        </p:txBody>
      </p:sp>
      <p:sp>
        <p:nvSpPr>
          <p:cNvPr id="12" name="文本框 11"/>
          <p:cNvSpPr txBox="1"/>
          <p:nvPr/>
        </p:nvSpPr>
        <p:spPr>
          <a:xfrm>
            <a:off x="233680" y="4144645"/>
            <a:ext cx="4064000" cy="368300"/>
          </a:xfrm>
          <a:prstGeom prst="rect">
            <a:avLst/>
          </a:prstGeom>
          <a:noFill/>
        </p:spPr>
        <p:txBody>
          <a:bodyPr wrap="square" rtlCol="0">
            <a:spAutoFit/>
          </a:bodyPr>
          <a:p>
            <a:pPr marL="285750" indent="-285750">
              <a:buFont typeface="Arial" panose="020B0604020202020204" pitchFamily="34" charset="0"/>
              <a:buChar char="•"/>
            </a:pPr>
            <a:r>
              <a:rPr lang="en-US" altLang="zh-CN" b="1"/>
              <a:t>Biomedical Image Processing</a:t>
            </a:r>
            <a:endParaRPr lang="en-US" altLang="zh-CN" b="1"/>
          </a:p>
        </p:txBody>
      </p:sp>
      <p:sp>
        <p:nvSpPr>
          <p:cNvPr id="17" name="文本框 16"/>
          <p:cNvSpPr txBox="1"/>
          <p:nvPr/>
        </p:nvSpPr>
        <p:spPr>
          <a:xfrm>
            <a:off x="6937375" y="4522470"/>
            <a:ext cx="4064000" cy="368300"/>
          </a:xfrm>
          <a:prstGeom prst="rect">
            <a:avLst/>
          </a:prstGeom>
          <a:noFill/>
        </p:spPr>
        <p:txBody>
          <a:bodyPr wrap="square" rtlCol="0">
            <a:spAutoFit/>
          </a:bodyPr>
          <a:p>
            <a:pPr marL="285750" indent="-285750">
              <a:buFont typeface="Arial" panose="020B0604020202020204" pitchFamily="34" charset="0"/>
              <a:buChar char="•"/>
            </a:pPr>
            <a:r>
              <a:rPr lang="en-US" altLang="zh-CN" b="1"/>
              <a:t>Image Processing Integration</a:t>
            </a:r>
            <a:endParaRPr lang="en-US" altLang="zh-CN" b="1"/>
          </a:p>
        </p:txBody>
      </p:sp>
      <p:sp>
        <p:nvSpPr>
          <p:cNvPr id="19" name="文本框 18"/>
          <p:cNvSpPr txBox="1"/>
          <p:nvPr/>
        </p:nvSpPr>
        <p:spPr>
          <a:xfrm>
            <a:off x="6937375" y="4903470"/>
            <a:ext cx="4064000" cy="368300"/>
          </a:xfrm>
          <a:prstGeom prst="rect">
            <a:avLst/>
          </a:prstGeom>
          <a:noFill/>
        </p:spPr>
        <p:txBody>
          <a:bodyPr wrap="square" rtlCol="0">
            <a:spAutoFit/>
          </a:bodyPr>
          <a:p>
            <a:pPr marL="285750" indent="-285750">
              <a:buFont typeface="Arial" panose="020B0604020202020204" pitchFamily="34" charset="0"/>
              <a:buChar char="•"/>
            </a:pPr>
            <a:r>
              <a:rPr lang="en-US" altLang="zh-CN" b="1">
                <a:sym typeface="+mn-ea"/>
              </a:rPr>
              <a:t>Image Auto Collection &amp; Sorting</a:t>
            </a:r>
            <a:endParaRPr lang="en-US" altLang="zh-CN" b="1">
              <a:sym typeface="+mn-ea"/>
            </a:endParaRPr>
          </a:p>
        </p:txBody>
      </p:sp>
      <p:sp>
        <p:nvSpPr>
          <p:cNvPr id="20" name="文本框 19"/>
          <p:cNvSpPr txBox="1"/>
          <p:nvPr/>
        </p:nvSpPr>
        <p:spPr>
          <a:xfrm>
            <a:off x="6937375" y="6046470"/>
            <a:ext cx="4409440" cy="368300"/>
          </a:xfrm>
          <a:prstGeom prst="rect">
            <a:avLst/>
          </a:prstGeom>
          <a:noFill/>
        </p:spPr>
        <p:txBody>
          <a:bodyPr wrap="square" rtlCol="0">
            <a:spAutoFit/>
          </a:bodyPr>
          <a:p>
            <a:pPr marL="285750" indent="-285750">
              <a:buFont typeface="Arial" panose="020B0604020202020204" pitchFamily="34" charset="0"/>
              <a:buChar char="•"/>
            </a:pPr>
            <a:r>
              <a:rPr lang="en-US" altLang="zh-CN" b="1"/>
              <a:t>AI System Deployment &amp; Adjustment</a:t>
            </a:r>
            <a:endParaRPr lang="en-US" altLang="zh-CN" b="1"/>
          </a:p>
        </p:txBody>
      </p:sp>
      <p:sp>
        <p:nvSpPr>
          <p:cNvPr id="21" name="文本框 20"/>
          <p:cNvSpPr txBox="1"/>
          <p:nvPr/>
        </p:nvSpPr>
        <p:spPr>
          <a:xfrm>
            <a:off x="6937375" y="5665470"/>
            <a:ext cx="4409440" cy="368300"/>
          </a:xfrm>
          <a:prstGeom prst="rect">
            <a:avLst/>
          </a:prstGeom>
          <a:noFill/>
        </p:spPr>
        <p:txBody>
          <a:bodyPr wrap="square" rtlCol="0">
            <a:spAutoFit/>
          </a:bodyPr>
          <a:p>
            <a:pPr marL="285750" indent="-285750">
              <a:buFont typeface="Arial" panose="020B0604020202020204" pitchFamily="34" charset="0"/>
              <a:buChar char="•"/>
            </a:pPr>
            <a:r>
              <a:rPr lang="en-US" altLang="zh-CN" b="1"/>
              <a:t>AI Acceleration</a:t>
            </a:r>
            <a:endParaRPr lang="en-US" altLang="zh-CN" b="1"/>
          </a:p>
        </p:txBody>
      </p:sp>
      <p:sp>
        <p:nvSpPr>
          <p:cNvPr id="22" name="文本框 21"/>
          <p:cNvSpPr txBox="1"/>
          <p:nvPr/>
        </p:nvSpPr>
        <p:spPr>
          <a:xfrm>
            <a:off x="8671560" y="1517015"/>
            <a:ext cx="2905125" cy="368300"/>
          </a:xfrm>
          <a:prstGeom prst="rect">
            <a:avLst/>
          </a:prstGeom>
          <a:noFill/>
        </p:spPr>
        <p:txBody>
          <a:bodyPr wrap="square" rtlCol="0">
            <a:spAutoFit/>
          </a:bodyPr>
          <a:p>
            <a:pPr marL="285750" indent="-285750">
              <a:buFont typeface="Arial" panose="020B0604020202020204" pitchFamily="34" charset="0"/>
              <a:buChar char="•"/>
            </a:pPr>
            <a:r>
              <a:rPr lang="en-US" altLang="zh-CN" b="1"/>
              <a:t>Medical Image Analysis</a:t>
            </a:r>
            <a:endParaRPr lang="en-US" altLang="zh-CN" b="1"/>
          </a:p>
        </p:txBody>
      </p:sp>
      <p:sp>
        <p:nvSpPr>
          <p:cNvPr id="23" name="文本框 22"/>
          <p:cNvSpPr txBox="1"/>
          <p:nvPr/>
        </p:nvSpPr>
        <p:spPr>
          <a:xfrm>
            <a:off x="8671560" y="2844800"/>
            <a:ext cx="2647315" cy="368300"/>
          </a:xfrm>
          <a:prstGeom prst="rect">
            <a:avLst/>
          </a:prstGeom>
          <a:noFill/>
        </p:spPr>
        <p:txBody>
          <a:bodyPr wrap="square" rtlCol="0">
            <a:spAutoFit/>
          </a:bodyPr>
          <a:p>
            <a:pPr marL="285750" indent="-285750">
              <a:buFont typeface="Arial" panose="020B0604020202020204" pitchFamily="34" charset="0"/>
              <a:buChar char="•"/>
            </a:pPr>
            <a:r>
              <a:rPr lang="en-US" altLang="zh-CN" b="1"/>
              <a:t>Implantable Sensing</a:t>
            </a:r>
            <a:endParaRPr lang="en-US" altLang="zh-CN" b="1"/>
          </a:p>
        </p:txBody>
      </p:sp>
      <p:sp>
        <p:nvSpPr>
          <p:cNvPr id="24" name="左大括号 23"/>
          <p:cNvSpPr/>
          <p:nvPr/>
        </p:nvSpPr>
        <p:spPr>
          <a:xfrm>
            <a:off x="8975725" y="2027555"/>
            <a:ext cx="223520" cy="67183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左大括号 27"/>
          <p:cNvSpPr/>
          <p:nvPr/>
        </p:nvSpPr>
        <p:spPr>
          <a:xfrm>
            <a:off x="8955405" y="3345815"/>
            <a:ext cx="243840" cy="61277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文本框 28"/>
          <p:cNvSpPr txBox="1"/>
          <p:nvPr/>
        </p:nvSpPr>
        <p:spPr>
          <a:xfrm>
            <a:off x="9199245" y="1885315"/>
            <a:ext cx="4064000" cy="306705"/>
          </a:xfrm>
          <a:prstGeom prst="rect">
            <a:avLst/>
          </a:prstGeom>
          <a:noFill/>
        </p:spPr>
        <p:txBody>
          <a:bodyPr wrap="square" rtlCol="0">
            <a:spAutoFit/>
          </a:bodyPr>
          <a:p>
            <a:r>
              <a:rPr lang="en-US" altLang="zh-CN" sz="1400" b="1"/>
              <a:t>X-Ray</a:t>
            </a:r>
            <a:endParaRPr lang="en-US" altLang="zh-CN" sz="1400" b="1"/>
          </a:p>
        </p:txBody>
      </p:sp>
      <p:sp>
        <p:nvSpPr>
          <p:cNvPr id="30" name="文本框 29"/>
          <p:cNvSpPr txBox="1"/>
          <p:nvPr/>
        </p:nvSpPr>
        <p:spPr>
          <a:xfrm>
            <a:off x="9199245" y="2211705"/>
            <a:ext cx="4064000" cy="306705"/>
          </a:xfrm>
          <a:prstGeom prst="rect">
            <a:avLst/>
          </a:prstGeom>
          <a:noFill/>
        </p:spPr>
        <p:txBody>
          <a:bodyPr wrap="square" rtlCol="0">
            <a:spAutoFit/>
          </a:bodyPr>
          <a:p>
            <a:r>
              <a:rPr lang="en-US" altLang="zh-CN" sz="1400" b="1"/>
              <a:t>CT</a:t>
            </a:r>
            <a:endParaRPr lang="en-US" altLang="zh-CN" sz="1400" b="1"/>
          </a:p>
        </p:txBody>
      </p:sp>
      <p:sp>
        <p:nvSpPr>
          <p:cNvPr id="31" name="文本框 30"/>
          <p:cNvSpPr txBox="1"/>
          <p:nvPr/>
        </p:nvSpPr>
        <p:spPr>
          <a:xfrm>
            <a:off x="9199245" y="2538095"/>
            <a:ext cx="4064000" cy="306705"/>
          </a:xfrm>
          <a:prstGeom prst="rect">
            <a:avLst/>
          </a:prstGeom>
          <a:noFill/>
        </p:spPr>
        <p:txBody>
          <a:bodyPr wrap="square" rtlCol="0">
            <a:spAutoFit/>
          </a:bodyPr>
          <a:p>
            <a:r>
              <a:rPr lang="en-US" altLang="zh-CN" sz="1400" b="1"/>
              <a:t>MRI</a:t>
            </a:r>
            <a:endParaRPr lang="en-US" altLang="zh-CN" sz="1400" b="1"/>
          </a:p>
        </p:txBody>
      </p:sp>
      <p:sp>
        <p:nvSpPr>
          <p:cNvPr id="32" name="文本框 31"/>
          <p:cNvSpPr txBox="1"/>
          <p:nvPr/>
        </p:nvSpPr>
        <p:spPr>
          <a:xfrm>
            <a:off x="9199245" y="3192780"/>
            <a:ext cx="4064000" cy="306705"/>
          </a:xfrm>
          <a:prstGeom prst="rect">
            <a:avLst/>
          </a:prstGeom>
          <a:noFill/>
        </p:spPr>
        <p:txBody>
          <a:bodyPr wrap="square" rtlCol="0">
            <a:spAutoFit/>
          </a:bodyPr>
          <a:p>
            <a:r>
              <a:rPr lang="en-US" altLang="zh-CN" sz="1400" b="1"/>
              <a:t>Temperature</a:t>
            </a:r>
            <a:endParaRPr lang="en-US" altLang="zh-CN" sz="1400" b="1"/>
          </a:p>
        </p:txBody>
      </p:sp>
      <p:sp>
        <p:nvSpPr>
          <p:cNvPr id="33" name="文本框 32"/>
          <p:cNvSpPr txBox="1"/>
          <p:nvPr/>
        </p:nvSpPr>
        <p:spPr>
          <a:xfrm>
            <a:off x="9199245" y="3493135"/>
            <a:ext cx="4064000" cy="306705"/>
          </a:xfrm>
          <a:prstGeom prst="rect">
            <a:avLst/>
          </a:prstGeom>
          <a:noFill/>
        </p:spPr>
        <p:txBody>
          <a:bodyPr wrap="square" rtlCol="0">
            <a:spAutoFit/>
          </a:bodyPr>
          <a:p>
            <a:r>
              <a:rPr lang="en-US" altLang="zh-CN" sz="1400" b="1"/>
              <a:t>Humidity</a:t>
            </a:r>
            <a:endParaRPr lang="en-US" altLang="zh-CN" sz="1400" b="1"/>
          </a:p>
        </p:txBody>
      </p:sp>
      <p:sp>
        <p:nvSpPr>
          <p:cNvPr id="34" name="文本框 33"/>
          <p:cNvSpPr txBox="1"/>
          <p:nvPr/>
        </p:nvSpPr>
        <p:spPr>
          <a:xfrm>
            <a:off x="9199245" y="3793490"/>
            <a:ext cx="4064000" cy="306705"/>
          </a:xfrm>
          <a:prstGeom prst="rect">
            <a:avLst/>
          </a:prstGeom>
          <a:noFill/>
        </p:spPr>
        <p:txBody>
          <a:bodyPr wrap="square" rtlCol="0">
            <a:spAutoFit/>
          </a:bodyPr>
          <a:p>
            <a:r>
              <a:rPr lang="en-US" altLang="zh-CN" sz="1400" b="1"/>
              <a:t>Pressure</a:t>
            </a:r>
            <a:endParaRPr lang="en-US" altLang="zh-CN" sz="1400" b="1"/>
          </a:p>
        </p:txBody>
      </p:sp>
      <p:sp>
        <p:nvSpPr>
          <p:cNvPr id="35" name="文本框 34"/>
          <p:cNvSpPr txBox="1"/>
          <p:nvPr/>
        </p:nvSpPr>
        <p:spPr>
          <a:xfrm>
            <a:off x="6937375" y="5284470"/>
            <a:ext cx="5253990" cy="368300"/>
          </a:xfrm>
          <a:prstGeom prst="rect">
            <a:avLst/>
          </a:prstGeom>
          <a:noFill/>
        </p:spPr>
        <p:txBody>
          <a:bodyPr wrap="square" rtlCol="0">
            <a:spAutoFit/>
          </a:bodyPr>
          <a:p>
            <a:pPr marL="285750" indent="-285750">
              <a:buFont typeface="Arial" panose="020B0604020202020204" pitchFamily="34" charset="0"/>
              <a:buChar char="•"/>
            </a:pPr>
            <a:r>
              <a:rPr lang="en-US" altLang="zh-CN" b="1"/>
              <a:t>User Friendly Interface Software Development</a:t>
            </a:r>
            <a:endParaRPr lang="en-US" altLang="zh-CN" b="1"/>
          </a:p>
        </p:txBody>
      </p:sp>
      <p:sp>
        <p:nvSpPr>
          <p:cNvPr id="36" name="左大括号 35"/>
          <p:cNvSpPr/>
          <p:nvPr/>
        </p:nvSpPr>
        <p:spPr>
          <a:xfrm>
            <a:off x="697865" y="4610735"/>
            <a:ext cx="231775" cy="52387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7" name="文本框 36"/>
          <p:cNvSpPr txBox="1"/>
          <p:nvPr/>
        </p:nvSpPr>
        <p:spPr>
          <a:xfrm>
            <a:off x="929640" y="4517390"/>
            <a:ext cx="1828800" cy="306705"/>
          </a:xfrm>
          <a:prstGeom prst="rect">
            <a:avLst/>
          </a:prstGeom>
          <a:noFill/>
        </p:spPr>
        <p:txBody>
          <a:bodyPr wrap="square" rtlCol="0">
            <a:spAutoFit/>
          </a:bodyPr>
          <a:p>
            <a:pPr indent="0">
              <a:buNone/>
            </a:pPr>
            <a:r>
              <a:rPr lang="en-US" altLang="zh-CN" sz="1400" b="1"/>
              <a:t>Classical</a:t>
            </a:r>
            <a:endParaRPr lang="en-US" altLang="zh-CN" sz="1400" b="1"/>
          </a:p>
        </p:txBody>
      </p:sp>
      <p:sp>
        <p:nvSpPr>
          <p:cNvPr id="38" name="文本框 37"/>
          <p:cNvSpPr txBox="1"/>
          <p:nvPr/>
        </p:nvSpPr>
        <p:spPr>
          <a:xfrm>
            <a:off x="929640" y="4926965"/>
            <a:ext cx="2193925" cy="337185"/>
          </a:xfrm>
          <a:prstGeom prst="rect">
            <a:avLst/>
          </a:prstGeom>
          <a:noFill/>
        </p:spPr>
        <p:txBody>
          <a:bodyPr wrap="square" rtlCol="0">
            <a:spAutoFit/>
          </a:bodyPr>
          <a:p>
            <a:pPr indent="0">
              <a:buNone/>
            </a:pPr>
            <a:r>
              <a:rPr lang="en-US" altLang="zh-CN" sz="1600" b="1"/>
              <a:t>Artificial Intelligence</a:t>
            </a:r>
            <a:endParaRPr lang="en-US" altLang="zh-CN" sz="1600" b="1"/>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000" y="180340"/>
            <a:ext cx="9629775"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Combination of Algorithm Enginneering &amp; Clinic in Bones</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2881630" y="3493135"/>
            <a:ext cx="3086100" cy="655320"/>
          </a:xfrm>
          <a:prstGeom prst="rect">
            <a:avLst/>
          </a:prstGeom>
        </p:spPr>
      </p:pic>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9" name="流程图: 联系 8"/>
          <p:cNvSpPr/>
          <p:nvPr/>
        </p:nvSpPr>
        <p:spPr>
          <a:xfrm>
            <a:off x="223520" y="1076960"/>
            <a:ext cx="2084070" cy="2084070"/>
          </a:xfrm>
          <a:prstGeom prst="flowChartConnector">
            <a:avLst/>
          </a:prstGeom>
          <a:gradFill>
            <a:gsLst>
              <a:gs pos="50000">
                <a:schemeClr val="accent5"/>
              </a:gs>
              <a:gs pos="0">
                <a:schemeClr val="accent5">
                  <a:lumMod val="25000"/>
                  <a:lumOff val="75000"/>
                </a:schemeClr>
              </a:gs>
              <a:gs pos="100000">
                <a:schemeClr val="accent5">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t>Algorithm</a:t>
            </a:r>
            <a:endParaRPr kumimoji="1" lang="en-US" altLang="zh-CN"/>
          </a:p>
        </p:txBody>
      </p:sp>
      <p:sp>
        <p:nvSpPr>
          <p:cNvPr id="3" name="文本框 2"/>
          <p:cNvSpPr txBox="1"/>
          <p:nvPr/>
        </p:nvSpPr>
        <p:spPr>
          <a:xfrm>
            <a:off x="2641600" y="1076960"/>
            <a:ext cx="2843530" cy="368300"/>
          </a:xfrm>
          <a:prstGeom prst="rect">
            <a:avLst/>
          </a:prstGeom>
          <a:noFill/>
        </p:spPr>
        <p:txBody>
          <a:bodyPr wrap="square" rtlCol="0">
            <a:spAutoFit/>
          </a:bodyPr>
          <a:p>
            <a:pPr marL="285750" indent="-285750">
              <a:buFont typeface="Arial" panose="020B0604020202020204" pitchFamily="34" charset="0"/>
              <a:buChar char="•"/>
            </a:pPr>
            <a:r>
              <a:rPr lang="en-US" altLang="zh-CN" b="1"/>
              <a:t>Finite Element Analysis</a:t>
            </a:r>
            <a:endParaRPr lang="en-US" altLang="zh-CN" b="1"/>
          </a:p>
        </p:txBody>
      </p:sp>
      <p:sp>
        <p:nvSpPr>
          <p:cNvPr id="4" name="文本框 3"/>
          <p:cNvSpPr txBox="1"/>
          <p:nvPr/>
        </p:nvSpPr>
        <p:spPr>
          <a:xfrm>
            <a:off x="2641600" y="3031490"/>
            <a:ext cx="2722880" cy="368300"/>
          </a:xfrm>
          <a:prstGeom prst="rect">
            <a:avLst/>
          </a:prstGeom>
          <a:noFill/>
        </p:spPr>
        <p:txBody>
          <a:bodyPr wrap="square" rtlCol="0">
            <a:spAutoFit/>
          </a:bodyPr>
          <a:p>
            <a:pPr marL="285750" indent="-285750">
              <a:buFont typeface="Arial" panose="020B0604020202020204" pitchFamily="34" charset="0"/>
              <a:buChar char="•"/>
            </a:pPr>
            <a:r>
              <a:rPr lang="en-US" altLang="zh-CN" b="1"/>
              <a:t>Molecular Dynamics</a:t>
            </a:r>
            <a:endParaRPr lang="en-US" altLang="zh-CN" b="1"/>
          </a:p>
        </p:txBody>
      </p:sp>
      <p:sp>
        <p:nvSpPr>
          <p:cNvPr id="6" name="文本框 5"/>
          <p:cNvSpPr txBox="1"/>
          <p:nvPr/>
        </p:nvSpPr>
        <p:spPr>
          <a:xfrm>
            <a:off x="2912110" y="1505585"/>
            <a:ext cx="1828800" cy="306705"/>
          </a:xfrm>
          <a:prstGeom prst="rect">
            <a:avLst/>
          </a:prstGeom>
          <a:noFill/>
        </p:spPr>
        <p:txBody>
          <a:bodyPr wrap="square" rtlCol="0">
            <a:spAutoFit/>
          </a:bodyPr>
          <a:p>
            <a:pPr indent="0">
              <a:buNone/>
            </a:pPr>
            <a:r>
              <a:rPr lang="en-US" altLang="zh-CN" sz="1400" b="1"/>
              <a:t>Abaqus</a:t>
            </a:r>
            <a:endParaRPr lang="en-US" altLang="zh-CN" sz="1400" b="1"/>
          </a:p>
        </p:txBody>
      </p:sp>
      <p:sp>
        <p:nvSpPr>
          <p:cNvPr id="12" name="文本框 11"/>
          <p:cNvSpPr txBox="1"/>
          <p:nvPr/>
        </p:nvSpPr>
        <p:spPr>
          <a:xfrm>
            <a:off x="2641600" y="5117465"/>
            <a:ext cx="4064000" cy="368300"/>
          </a:xfrm>
          <a:prstGeom prst="rect">
            <a:avLst/>
          </a:prstGeom>
          <a:noFill/>
        </p:spPr>
        <p:txBody>
          <a:bodyPr wrap="square" rtlCol="0">
            <a:spAutoFit/>
          </a:bodyPr>
          <a:p>
            <a:pPr marL="285750" indent="-285750">
              <a:buFont typeface="Arial" panose="020B0604020202020204" pitchFamily="34" charset="0"/>
              <a:buChar char="•"/>
            </a:pPr>
            <a:r>
              <a:rPr lang="en-US" altLang="zh-CN" b="1"/>
              <a:t>Biomedical Image Processing</a:t>
            </a:r>
            <a:endParaRPr lang="en-US" altLang="zh-CN" b="1"/>
          </a:p>
        </p:txBody>
      </p:sp>
      <p:sp>
        <p:nvSpPr>
          <p:cNvPr id="37" name="文本框 36"/>
          <p:cNvSpPr txBox="1"/>
          <p:nvPr/>
        </p:nvSpPr>
        <p:spPr>
          <a:xfrm>
            <a:off x="2912745" y="5490210"/>
            <a:ext cx="1828800" cy="306705"/>
          </a:xfrm>
          <a:prstGeom prst="rect">
            <a:avLst/>
          </a:prstGeom>
          <a:noFill/>
        </p:spPr>
        <p:txBody>
          <a:bodyPr wrap="square" rtlCol="0">
            <a:spAutoFit/>
          </a:bodyPr>
          <a:p>
            <a:pPr indent="0">
              <a:buNone/>
            </a:pPr>
            <a:r>
              <a:rPr lang="en-US" altLang="zh-CN" sz="1400" b="1"/>
              <a:t>Classical</a:t>
            </a:r>
            <a:endParaRPr lang="en-US" altLang="zh-CN" sz="1400" b="1"/>
          </a:p>
        </p:txBody>
      </p:sp>
      <p:sp>
        <p:nvSpPr>
          <p:cNvPr id="38" name="文本框 37"/>
          <p:cNvSpPr txBox="1"/>
          <p:nvPr/>
        </p:nvSpPr>
        <p:spPr>
          <a:xfrm>
            <a:off x="7458710" y="5490210"/>
            <a:ext cx="2193925" cy="337185"/>
          </a:xfrm>
          <a:prstGeom prst="rect">
            <a:avLst/>
          </a:prstGeom>
          <a:noFill/>
        </p:spPr>
        <p:txBody>
          <a:bodyPr wrap="square" rtlCol="0">
            <a:spAutoFit/>
          </a:bodyPr>
          <a:p>
            <a:pPr indent="0">
              <a:buNone/>
            </a:pPr>
            <a:r>
              <a:rPr lang="en-US" altLang="zh-CN" sz="1600" b="1"/>
              <a:t>Artificial Intelligence</a:t>
            </a:r>
            <a:endParaRPr lang="en-US" altLang="zh-CN" sz="1600" b="1"/>
          </a:p>
        </p:txBody>
      </p:sp>
      <p:pic>
        <p:nvPicPr>
          <p:cNvPr id="11" name="图片 10" descr="Abaqus"/>
          <p:cNvPicPr>
            <a:picLocks noChangeAspect="1"/>
          </p:cNvPicPr>
          <p:nvPr/>
        </p:nvPicPr>
        <p:blipFill>
          <a:blip r:embed="rId2"/>
          <a:stretch>
            <a:fillRect/>
          </a:stretch>
        </p:blipFill>
        <p:spPr>
          <a:xfrm>
            <a:off x="4910455" y="1531620"/>
            <a:ext cx="2338705" cy="1315720"/>
          </a:xfrm>
          <a:prstGeom prst="rect">
            <a:avLst/>
          </a:prstGeom>
        </p:spPr>
      </p:pic>
      <p:pic>
        <p:nvPicPr>
          <p:cNvPr id="14" name="图片 13" descr="Ansys"/>
          <p:cNvPicPr>
            <a:picLocks noChangeAspect="1"/>
          </p:cNvPicPr>
          <p:nvPr/>
        </p:nvPicPr>
        <p:blipFill>
          <a:blip r:embed="rId3"/>
          <a:stretch>
            <a:fillRect/>
          </a:stretch>
        </p:blipFill>
        <p:spPr>
          <a:xfrm>
            <a:off x="9662160" y="1531620"/>
            <a:ext cx="2364740" cy="1326515"/>
          </a:xfrm>
          <a:prstGeom prst="rect">
            <a:avLst/>
          </a:prstGeom>
        </p:spPr>
      </p:pic>
      <p:sp>
        <p:nvSpPr>
          <p:cNvPr id="15" name="文本框 14"/>
          <p:cNvSpPr txBox="1"/>
          <p:nvPr/>
        </p:nvSpPr>
        <p:spPr>
          <a:xfrm>
            <a:off x="7442200" y="1445260"/>
            <a:ext cx="1086485" cy="337185"/>
          </a:xfrm>
          <a:prstGeom prst="rect">
            <a:avLst/>
          </a:prstGeom>
          <a:noFill/>
        </p:spPr>
        <p:txBody>
          <a:bodyPr wrap="square" rtlCol="0" anchor="t">
            <a:spAutoFit/>
          </a:bodyPr>
          <a:p>
            <a:r>
              <a:rPr lang="en-US" altLang="zh-CN" sz="1600" b="1">
                <a:sym typeface="+mn-ea"/>
              </a:rPr>
              <a:t>Ansys</a:t>
            </a:r>
            <a:endParaRPr lang="en-US" altLang="zh-CN" sz="1600" b="1">
              <a:sym typeface="+mn-ea"/>
            </a:endParaRPr>
          </a:p>
        </p:txBody>
      </p:sp>
      <p:sp>
        <p:nvSpPr>
          <p:cNvPr id="16" name="文本框 15"/>
          <p:cNvSpPr txBox="1"/>
          <p:nvPr/>
        </p:nvSpPr>
        <p:spPr>
          <a:xfrm>
            <a:off x="2912110" y="1791335"/>
            <a:ext cx="1829435" cy="521970"/>
          </a:xfrm>
          <a:prstGeom prst="rect">
            <a:avLst/>
          </a:prstGeom>
          <a:noFill/>
        </p:spPr>
        <p:txBody>
          <a:bodyPr wrap="square" rtlCol="0">
            <a:spAutoFit/>
          </a:bodyPr>
          <a:p>
            <a:pPr marL="285750" indent="-285750">
              <a:buFont typeface="Arial" panose="020B0604020202020204" pitchFamily="34" charset="0"/>
              <a:buChar char="•"/>
            </a:pPr>
            <a:r>
              <a:rPr lang="en-US" altLang="zh-CN" sz="1400"/>
              <a:t>Complex material simulation</a:t>
            </a:r>
            <a:endParaRPr lang="en-US" altLang="zh-CN" sz="1400"/>
          </a:p>
        </p:txBody>
      </p:sp>
      <p:sp>
        <p:nvSpPr>
          <p:cNvPr id="39" name="文本框 38"/>
          <p:cNvSpPr txBox="1"/>
          <p:nvPr/>
        </p:nvSpPr>
        <p:spPr>
          <a:xfrm>
            <a:off x="2881630" y="2466340"/>
            <a:ext cx="2169160" cy="306705"/>
          </a:xfrm>
          <a:prstGeom prst="rect">
            <a:avLst/>
          </a:prstGeom>
          <a:noFill/>
        </p:spPr>
        <p:txBody>
          <a:bodyPr wrap="square" rtlCol="0">
            <a:spAutoFit/>
          </a:bodyPr>
          <a:p>
            <a:pPr marL="285750" indent="-285750">
              <a:buFont typeface="Arial" panose="020B0604020202020204" pitchFamily="34" charset="0"/>
              <a:buChar char="•"/>
            </a:pPr>
            <a:r>
              <a:rPr lang="en-US" altLang="zh-CN" sz="1400"/>
              <a:t>Nonlinear mechanics</a:t>
            </a:r>
            <a:endParaRPr lang="en-US" altLang="zh-CN" sz="1400"/>
          </a:p>
        </p:txBody>
      </p:sp>
      <p:sp>
        <p:nvSpPr>
          <p:cNvPr id="40" name="文本框 39"/>
          <p:cNvSpPr txBox="1"/>
          <p:nvPr/>
        </p:nvSpPr>
        <p:spPr>
          <a:xfrm>
            <a:off x="7458710" y="1782445"/>
            <a:ext cx="2224405" cy="737235"/>
          </a:xfrm>
          <a:prstGeom prst="rect">
            <a:avLst/>
          </a:prstGeom>
          <a:noFill/>
        </p:spPr>
        <p:txBody>
          <a:bodyPr wrap="square" rtlCol="0">
            <a:spAutoFit/>
          </a:bodyPr>
          <a:p>
            <a:pPr marL="285750" indent="-285750">
              <a:buFont typeface="Arial" panose="020B0604020202020204" pitchFamily="34" charset="0"/>
              <a:buChar char="•"/>
            </a:pPr>
            <a:r>
              <a:rPr lang="en-US" altLang="zh-CN" sz="1400"/>
              <a:t>Multi-physics coupling (fluid/thermal/electromagnetic)</a:t>
            </a:r>
            <a:endParaRPr lang="en-US" altLang="zh-CN" sz="1400"/>
          </a:p>
        </p:txBody>
      </p:sp>
      <p:sp>
        <p:nvSpPr>
          <p:cNvPr id="41" name="文本框 40"/>
          <p:cNvSpPr txBox="1"/>
          <p:nvPr/>
        </p:nvSpPr>
        <p:spPr>
          <a:xfrm>
            <a:off x="7458710" y="2472055"/>
            <a:ext cx="4064000" cy="306705"/>
          </a:xfrm>
          <a:prstGeom prst="rect">
            <a:avLst/>
          </a:prstGeom>
          <a:noFill/>
        </p:spPr>
        <p:txBody>
          <a:bodyPr wrap="square" rtlCol="0">
            <a:spAutoFit/>
          </a:bodyPr>
          <a:p>
            <a:pPr marL="285750" indent="-285750">
              <a:buFont typeface="Arial" panose="020B0604020202020204" pitchFamily="34" charset="0"/>
              <a:buChar char="•"/>
            </a:pPr>
            <a:r>
              <a:rPr lang="en-US" altLang="zh-CN" sz="1400"/>
              <a:t>Fast simulation</a:t>
            </a:r>
            <a:endParaRPr lang="en-US" altLang="zh-CN" sz="1400"/>
          </a:p>
        </p:txBody>
      </p:sp>
      <p:sp>
        <p:nvSpPr>
          <p:cNvPr id="42" name="文本框 41"/>
          <p:cNvSpPr txBox="1"/>
          <p:nvPr/>
        </p:nvSpPr>
        <p:spPr>
          <a:xfrm>
            <a:off x="3223260" y="5767070"/>
            <a:ext cx="1687195" cy="922655"/>
          </a:xfrm>
          <a:prstGeom prst="rect">
            <a:avLst/>
          </a:prstGeom>
          <a:noFill/>
        </p:spPr>
        <p:txBody>
          <a:bodyPr wrap="square" rtlCol="0">
            <a:noAutofit/>
          </a:bodyPr>
          <a:p>
            <a:pPr marL="285750" indent="-285750">
              <a:buFont typeface="Arial" panose="020B0604020202020204" pitchFamily="34" charset="0"/>
              <a:buChar char="•"/>
            </a:pPr>
            <a:r>
              <a:rPr lang="en-US" altLang="zh-CN" sz="1400"/>
              <a:t>Circularity</a:t>
            </a:r>
            <a:endParaRPr lang="en-US" altLang="zh-CN" sz="1400"/>
          </a:p>
          <a:p>
            <a:pPr marL="285750" indent="-285750">
              <a:buFont typeface="Arial" panose="020B0604020202020204" pitchFamily="34" charset="0"/>
              <a:buChar char="•"/>
            </a:pPr>
            <a:r>
              <a:rPr lang="en-US" altLang="zh-CN" sz="1400"/>
              <a:t>Rectangularity</a:t>
            </a:r>
            <a:endParaRPr lang="en-US" altLang="zh-CN" sz="1400"/>
          </a:p>
          <a:p>
            <a:pPr marL="285750" indent="-285750">
              <a:buFont typeface="Arial" panose="020B0604020202020204" pitchFamily="34" charset="0"/>
              <a:buChar char="•"/>
            </a:pPr>
            <a:r>
              <a:rPr lang="en-US" altLang="zh-CN" sz="1400"/>
              <a:t>Area/Perimeter</a:t>
            </a:r>
            <a:endParaRPr lang="en-US" altLang="zh-CN" sz="1400"/>
          </a:p>
          <a:p>
            <a:pPr marL="285750" indent="-285750">
              <a:buFont typeface="Arial" panose="020B0604020202020204" pitchFamily="34" charset="0"/>
              <a:buChar char="•"/>
            </a:pPr>
            <a:r>
              <a:rPr lang="en-US" altLang="zh-CN" sz="1400"/>
              <a:t>Skeleton</a:t>
            </a:r>
            <a:endParaRPr lang="en-US" altLang="zh-CN" sz="1400"/>
          </a:p>
        </p:txBody>
      </p:sp>
      <p:sp>
        <p:nvSpPr>
          <p:cNvPr id="43" name="文本框 42"/>
          <p:cNvSpPr txBox="1"/>
          <p:nvPr/>
        </p:nvSpPr>
        <p:spPr>
          <a:xfrm>
            <a:off x="7832725" y="5817870"/>
            <a:ext cx="1687195" cy="781050"/>
          </a:xfrm>
          <a:prstGeom prst="rect">
            <a:avLst/>
          </a:prstGeom>
          <a:noFill/>
        </p:spPr>
        <p:txBody>
          <a:bodyPr wrap="square" rtlCol="0">
            <a:noAutofit/>
          </a:bodyPr>
          <a:p>
            <a:pPr marL="285750" indent="-285750">
              <a:buFont typeface="Arial" panose="020B0604020202020204" pitchFamily="34" charset="0"/>
              <a:buChar char="•"/>
            </a:pPr>
            <a:r>
              <a:rPr lang="en-US" altLang="zh-CN" sz="1400"/>
              <a:t>Segmentation</a:t>
            </a:r>
            <a:endParaRPr lang="en-US" altLang="zh-CN" sz="1400"/>
          </a:p>
          <a:p>
            <a:pPr marL="285750" indent="-285750">
              <a:buFont typeface="Arial" panose="020B0604020202020204" pitchFamily="34" charset="0"/>
              <a:buChar char="•"/>
            </a:pPr>
            <a:r>
              <a:rPr lang="en-US" altLang="zh-CN" sz="1400"/>
              <a:t>Detection</a:t>
            </a:r>
            <a:endParaRPr lang="en-US" altLang="zh-CN" sz="1400"/>
          </a:p>
          <a:p>
            <a:pPr marL="285750" indent="-285750">
              <a:buFont typeface="Arial" panose="020B0604020202020204" pitchFamily="34" charset="0"/>
              <a:buChar char="•"/>
            </a:pPr>
            <a:r>
              <a:rPr lang="en-US" altLang="zh-CN" sz="1400"/>
              <a:t>Classification</a:t>
            </a:r>
            <a:endParaRPr lang="en-US" altLang="zh-CN" sz="1400"/>
          </a:p>
          <a:p>
            <a:pPr marL="285750" indent="-285750">
              <a:buFont typeface="Arial" panose="020B0604020202020204" pitchFamily="34" charset="0"/>
              <a:buChar char="•"/>
            </a:pPr>
            <a:endParaRPr lang="en-US" altLang="zh-CN" sz="1400"/>
          </a:p>
        </p:txBody>
      </p:sp>
      <p:pic>
        <p:nvPicPr>
          <p:cNvPr id="44" name="图片 43"/>
          <p:cNvPicPr>
            <a:picLocks noChangeAspect="1"/>
          </p:cNvPicPr>
          <p:nvPr/>
        </p:nvPicPr>
        <p:blipFill>
          <a:blip r:embed="rId4"/>
          <a:stretch>
            <a:fillRect/>
          </a:stretch>
        </p:blipFill>
        <p:spPr>
          <a:xfrm>
            <a:off x="6154420" y="3642995"/>
            <a:ext cx="1943100" cy="297180"/>
          </a:xfrm>
          <a:prstGeom prst="rect">
            <a:avLst/>
          </a:prstGeom>
        </p:spPr>
      </p:pic>
      <p:pic>
        <p:nvPicPr>
          <p:cNvPr id="45" name="图片 44"/>
          <p:cNvPicPr>
            <a:picLocks noChangeAspect="1"/>
          </p:cNvPicPr>
          <p:nvPr/>
        </p:nvPicPr>
        <p:blipFill>
          <a:blip r:embed="rId5"/>
          <a:stretch>
            <a:fillRect/>
          </a:stretch>
        </p:blipFill>
        <p:spPr>
          <a:xfrm>
            <a:off x="6103620" y="3995420"/>
            <a:ext cx="1630680" cy="426720"/>
          </a:xfrm>
          <a:prstGeom prst="rect">
            <a:avLst/>
          </a:prstGeom>
        </p:spPr>
      </p:pic>
      <p:pic>
        <p:nvPicPr>
          <p:cNvPr id="46" name="图片 45"/>
          <p:cNvPicPr>
            <a:picLocks noChangeAspect="1"/>
          </p:cNvPicPr>
          <p:nvPr/>
        </p:nvPicPr>
        <p:blipFill>
          <a:blip r:embed="rId6"/>
          <a:stretch>
            <a:fillRect/>
          </a:stretch>
        </p:blipFill>
        <p:spPr>
          <a:xfrm>
            <a:off x="3087370" y="4362450"/>
            <a:ext cx="2674620" cy="441960"/>
          </a:xfrm>
          <a:prstGeom prst="rect">
            <a:avLst/>
          </a:prstGeom>
        </p:spPr>
      </p:pic>
      <p:pic>
        <p:nvPicPr>
          <p:cNvPr id="47" name="图片 46"/>
          <p:cNvPicPr>
            <a:picLocks noChangeAspect="1"/>
          </p:cNvPicPr>
          <p:nvPr/>
        </p:nvPicPr>
        <p:blipFill>
          <a:blip r:embed="rId7"/>
          <a:stretch>
            <a:fillRect/>
          </a:stretch>
        </p:blipFill>
        <p:spPr>
          <a:xfrm>
            <a:off x="6154420" y="4545965"/>
            <a:ext cx="1325880" cy="274320"/>
          </a:xfrm>
          <a:prstGeom prst="rect">
            <a:avLst/>
          </a:prstGeom>
        </p:spPr>
      </p:pic>
      <p:sp>
        <p:nvSpPr>
          <p:cNvPr id="48" name="左大括号 47"/>
          <p:cNvSpPr/>
          <p:nvPr/>
        </p:nvSpPr>
        <p:spPr>
          <a:xfrm>
            <a:off x="6080760" y="3792855"/>
            <a:ext cx="81280" cy="92456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52" name="图片 51"/>
          <p:cNvPicPr>
            <a:picLocks noChangeAspect="1"/>
          </p:cNvPicPr>
          <p:nvPr/>
        </p:nvPicPr>
        <p:blipFill>
          <a:blip r:embed="rId8"/>
          <a:stretch>
            <a:fillRect/>
          </a:stretch>
        </p:blipFill>
        <p:spPr>
          <a:xfrm>
            <a:off x="9996170" y="3399790"/>
            <a:ext cx="2192020" cy="1758950"/>
          </a:xfrm>
          <a:prstGeom prst="rect">
            <a:avLst/>
          </a:prstGeom>
        </p:spPr>
      </p:pic>
      <p:pic>
        <p:nvPicPr>
          <p:cNvPr id="51" name="图片 50"/>
          <p:cNvPicPr>
            <a:picLocks noChangeAspect="1"/>
          </p:cNvPicPr>
          <p:nvPr/>
        </p:nvPicPr>
        <p:blipFill>
          <a:blip r:embed="rId9"/>
          <a:stretch>
            <a:fillRect/>
          </a:stretch>
        </p:blipFill>
        <p:spPr>
          <a:xfrm>
            <a:off x="8002905" y="3448050"/>
            <a:ext cx="2023110" cy="170053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000" y="180340"/>
            <a:ext cx="9623425"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Combination of Algorithm Enginneering &amp; Clinic in Bones</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8" name="流程图: 联系 7"/>
          <p:cNvSpPr/>
          <p:nvPr/>
        </p:nvSpPr>
        <p:spPr>
          <a:xfrm>
            <a:off x="223520" y="1076960"/>
            <a:ext cx="2084070" cy="2084070"/>
          </a:xfrm>
          <a:prstGeom prst="flowChartConnector">
            <a:avLst/>
          </a:prstGeom>
          <a:gradFill>
            <a:gsLst>
              <a:gs pos="50000">
                <a:schemeClr val="accent1"/>
              </a:gs>
              <a:gs pos="0">
                <a:schemeClr val="accent1">
                  <a:lumMod val="25000"/>
                  <a:lumOff val="75000"/>
                </a:schemeClr>
              </a:gs>
              <a:gs pos="100000">
                <a:schemeClr val="accent1">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t>Engineering</a:t>
            </a:r>
            <a:endParaRPr kumimoji="1" lang="en-US" altLang="zh-CN"/>
          </a:p>
        </p:txBody>
      </p:sp>
      <p:sp>
        <p:nvSpPr>
          <p:cNvPr id="17" name="文本框 16"/>
          <p:cNvSpPr txBox="1"/>
          <p:nvPr/>
        </p:nvSpPr>
        <p:spPr>
          <a:xfrm>
            <a:off x="2681605" y="1169670"/>
            <a:ext cx="4064000" cy="368300"/>
          </a:xfrm>
          <a:prstGeom prst="rect">
            <a:avLst/>
          </a:prstGeom>
          <a:noFill/>
        </p:spPr>
        <p:txBody>
          <a:bodyPr wrap="square" rtlCol="0">
            <a:spAutoFit/>
          </a:bodyPr>
          <a:p>
            <a:pPr marL="285750" indent="-285750">
              <a:buFont typeface="Arial" panose="020B0604020202020204" pitchFamily="34" charset="0"/>
              <a:buChar char="•"/>
            </a:pPr>
            <a:r>
              <a:rPr lang="en-US" altLang="zh-CN" b="1"/>
              <a:t>Image Processing Integration</a:t>
            </a:r>
            <a:endParaRPr lang="en-US" altLang="zh-CN" b="1"/>
          </a:p>
        </p:txBody>
      </p:sp>
      <p:sp>
        <p:nvSpPr>
          <p:cNvPr id="19" name="文本框 18"/>
          <p:cNvSpPr txBox="1"/>
          <p:nvPr/>
        </p:nvSpPr>
        <p:spPr>
          <a:xfrm>
            <a:off x="2681605" y="2313940"/>
            <a:ext cx="4064000" cy="368300"/>
          </a:xfrm>
          <a:prstGeom prst="rect">
            <a:avLst/>
          </a:prstGeom>
          <a:noFill/>
        </p:spPr>
        <p:txBody>
          <a:bodyPr wrap="square" rtlCol="0">
            <a:spAutoFit/>
          </a:bodyPr>
          <a:p>
            <a:pPr marL="285750" indent="-285750">
              <a:buFont typeface="Arial" panose="020B0604020202020204" pitchFamily="34" charset="0"/>
              <a:buChar char="•"/>
            </a:pPr>
            <a:r>
              <a:rPr lang="en-US" altLang="zh-CN" b="1">
                <a:sym typeface="+mn-ea"/>
              </a:rPr>
              <a:t>Image Auto Collection &amp; Sorting</a:t>
            </a:r>
            <a:endParaRPr lang="en-US" altLang="zh-CN" b="1">
              <a:sym typeface="+mn-ea"/>
            </a:endParaRPr>
          </a:p>
        </p:txBody>
      </p:sp>
      <p:sp>
        <p:nvSpPr>
          <p:cNvPr id="20" name="文本框 19"/>
          <p:cNvSpPr txBox="1"/>
          <p:nvPr/>
        </p:nvSpPr>
        <p:spPr>
          <a:xfrm>
            <a:off x="2681605" y="4295775"/>
            <a:ext cx="4409440" cy="368300"/>
          </a:xfrm>
          <a:prstGeom prst="rect">
            <a:avLst/>
          </a:prstGeom>
          <a:noFill/>
        </p:spPr>
        <p:txBody>
          <a:bodyPr wrap="square" rtlCol="0">
            <a:spAutoFit/>
          </a:bodyPr>
          <a:p>
            <a:pPr marL="285750" indent="-285750">
              <a:buFont typeface="Arial" panose="020B0604020202020204" pitchFamily="34" charset="0"/>
              <a:buChar char="•"/>
            </a:pPr>
            <a:r>
              <a:rPr lang="en-US" altLang="zh-CN" b="1"/>
              <a:t>AI System Deployment &amp; Adjustment</a:t>
            </a:r>
            <a:endParaRPr lang="en-US" altLang="zh-CN" b="1"/>
          </a:p>
        </p:txBody>
      </p:sp>
      <p:sp>
        <p:nvSpPr>
          <p:cNvPr id="21" name="文本框 20"/>
          <p:cNvSpPr txBox="1"/>
          <p:nvPr/>
        </p:nvSpPr>
        <p:spPr>
          <a:xfrm>
            <a:off x="2681605" y="5356860"/>
            <a:ext cx="4409440" cy="368300"/>
          </a:xfrm>
          <a:prstGeom prst="rect">
            <a:avLst/>
          </a:prstGeom>
          <a:noFill/>
        </p:spPr>
        <p:txBody>
          <a:bodyPr wrap="square" rtlCol="0">
            <a:spAutoFit/>
          </a:bodyPr>
          <a:p>
            <a:pPr marL="285750" indent="-285750">
              <a:buFont typeface="Arial" panose="020B0604020202020204" pitchFamily="34" charset="0"/>
              <a:buChar char="•"/>
            </a:pPr>
            <a:r>
              <a:rPr lang="en-US" altLang="zh-CN" b="1"/>
              <a:t>AI Acceleration</a:t>
            </a:r>
            <a:endParaRPr lang="en-US" altLang="zh-CN" b="1"/>
          </a:p>
        </p:txBody>
      </p:sp>
      <p:sp>
        <p:nvSpPr>
          <p:cNvPr id="35" name="文本框 34"/>
          <p:cNvSpPr txBox="1"/>
          <p:nvPr/>
        </p:nvSpPr>
        <p:spPr>
          <a:xfrm>
            <a:off x="2681605" y="3348355"/>
            <a:ext cx="5253990" cy="368300"/>
          </a:xfrm>
          <a:prstGeom prst="rect">
            <a:avLst/>
          </a:prstGeom>
          <a:noFill/>
        </p:spPr>
        <p:txBody>
          <a:bodyPr wrap="square" rtlCol="0">
            <a:spAutoFit/>
          </a:bodyPr>
          <a:p>
            <a:pPr marL="285750" indent="-285750">
              <a:buFont typeface="Arial" panose="020B0604020202020204" pitchFamily="34" charset="0"/>
              <a:buChar char="•"/>
            </a:pPr>
            <a:r>
              <a:rPr lang="en-US" altLang="zh-CN" b="1"/>
              <a:t>User Friendly Interface Software Development</a:t>
            </a:r>
            <a:endParaRPr lang="en-US" altLang="zh-CN" b="1"/>
          </a:p>
        </p:txBody>
      </p:sp>
      <p:sp>
        <p:nvSpPr>
          <p:cNvPr id="15" name="文本框 14"/>
          <p:cNvSpPr txBox="1"/>
          <p:nvPr/>
        </p:nvSpPr>
        <p:spPr>
          <a:xfrm>
            <a:off x="2963545" y="1566545"/>
            <a:ext cx="9071610" cy="718820"/>
          </a:xfrm>
          <a:prstGeom prst="rect">
            <a:avLst/>
          </a:prstGeom>
          <a:noFill/>
        </p:spPr>
        <p:txBody>
          <a:bodyPr wrap="square" rtlCol="0">
            <a:noAutofit/>
          </a:bodyPr>
          <a:p>
            <a:r>
              <a:rPr lang="en-US" altLang="zh-CN" sz="1400"/>
              <a:t>Integrate image processing with camera image capture, communication, inference, result display &amp; feedback, and UI interaction into an automated software workflow, eliminating the need for separate operation of each link on different devices.</a:t>
            </a:r>
            <a:endParaRPr lang="en-US" altLang="zh-CN" sz="1400"/>
          </a:p>
        </p:txBody>
      </p:sp>
      <p:sp>
        <p:nvSpPr>
          <p:cNvPr id="16" name="文本框 15"/>
          <p:cNvSpPr txBox="1"/>
          <p:nvPr/>
        </p:nvSpPr>
        <p:spPr>
          <a:xfrm>
            <a:off x="2963545" y="2710815"/>
            <a:ext cx="9071610" cy="608965"/>
          </a:xfrm>
          <a:prstGeom prst="rect">
            <a:avLst/>
          </a:prstGeom>
          <a:noFill/>
        </p:spPr>
        <p:txBody>
          <a:bodyPr wrap="square" rtlCol="0">
            <a:noAutofit/>
          </a:bodyPr>
          <a:p>
            <a:r>
              <a:rPr lang="en-US" altLang="zh-CN" sz="1400"/>
              <a:t>Use classification models or preset rules to automatically name, classify and store collected images and data, serving subsequent data processing, model training &amp; validation, and data augmentation.</a:t>
            </a:r>
            <a:endParaRPr lang="en-US" altLang="zh-CN" sz="1400"/>
          </a:p>
        </p:txBody>
      </p:sp>
      <p:sp>
        <p:nvSpPr>
          <p:cNvPr id="39" name="文本框 38"/>
          <p:cNvSpPr txBox="1"/>
          <p:nvPr/>
        </p:nvSpPr>
        <p:spPr>
          <a:xfrm>
            <a:off x="2963545" y="3745230"/>
            <a:ext cx="9071610" cy="521970"/>
          </a:xfrm>
          <a:prstGeom prst="rect">
            <a:avLst/>
          </a:prstGeom>
          <a:noFill/>
        </p:spPr>
        <p:txBody>
          <a:bodyPr wrap="square" rtlCol="0">
            <a:spAutoFit/>
          </a:bodyPr>
          <a:p>
            <a:r>
              <a:rPr lang="en-US" altLang="zh-CN" sz="1400"/>
              <a:t>Develop visual interfaces via QT or similar tools, encapsulate complex algorithms and processes, and lower the threshold for medical staff and technicians to use AI and algorithms.</a:t>
            </a:r>
            <a:endParaRPr lang="en-US" altLang="zh-CN" sz="1400"/>
          </a:p>
        </p:txBody>
      </p:sp>
      <p:sp>
        <p:nvSpPr>
          <p:cNvPr id="40" name="文本框 39"/>
          <p:cNvSpPr txBox="1"/>
          <p:nvPr/>
        </p:nvSpPr>
        <p:spPr>
          <a:xfrm>
            <a:off x="2963545" y="4692650"/>
            <a:ext cx="9070975" cy="635635"/>
          </a:xfrm>
          <a:prstGeom prst="rect">
            <a:avLst/>
          </a:prstGeom>
          <a:noFill/>
        </p:spPr>
        <p:txBody>
          <a:bodyPr wrap="square" rtlCol="0">
            <a:noAutofit/>
          </a:bodyPr>
          <a:p>
            <a:r>
              <a:rPr lang="en-US" altLang="zh-CN" sz="1400"/>
              <a:t>Deploy adaptive versions based on computing power and platforms of different clinical scenarios to ensure algorithm coverage across various application scenarios.</a:t>
            </a:r>
            <a:endParaRPr lang="en-US" altLang="zh-CN" sz="1400"/>
          </a:p>
        </p:txBody>
      </p:sp>
      <p:sp>
        <p:nvSpPr>
          <p:cNvPr id="41" name="文本框 40"/>
          <p:cNvSpPr txBox="1"/>
          <p:nvPr/>
        </p:nvSpPr>
        <p:spPr>
          <a:xfrm>
            <a:off x="2963545" y="5753735"/>
            <a:ext cx="9070340" cy="521970"/>
          </a:xfrm>
          <a:prstGeom prst="rect">
            <a:avLst/>
          </a:prstGeom>
          <a:noFill/>
        </p:spPr>
        <p:txBody>
          <a:bodyPr wrap="square" rtlCol="0">
            <a:spAutoFit/>
          </a:bodyPr>
          <a:p>
            <a:r>
              <a:rPr lang="en-US" altLang="zh-CN" sz="1400"/>
              <a:t>Depending on project requirements, accelerate model training, inference validation in the lab, and speed up offline clinical inference using methods like CUDA, TBB multi-threading, or AVX instruction set optimization.</a:t>
            </a:r>
            <a:endParaRPr lang="en-US" altLang="zh-CN" sz="14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000" y="180340"/>
            <a:ext cx="9612630"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Combination of Algorithm Enginneering &amp; Clinic in Bones</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13" name="流程图: 联系 12"/>
          <p:cNvSpPr/>
          <p:nvPr/>
        </p:nvSpPr>
        <p:spPr>
          <a:xfrm>
            <a:off x="223520" y="1076960"/>
            <a:ext cx="2084070" cy="2084070"/>
          </a:xfrm>
          <a:prstGeom prst="flowChartConnector">
            <a:avLst/>
          </a:prstGeom>
          <a:gradFill>
            <a:gsLst>
              <a:gs pos="50000">
                <a:schemeClr val="accent6"/>
              </a:gs>
              <a:gs pos="0">
                <a:schemeClr val="accent6">
                  <a:lumMod val="25000"/>
                  <a:lumOff val="75000"/>
                </a:schemeClr>
              </a:gs>
              <a:gs pos="100000">
                <a:schemeClr val="accent6">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t>Clinic</a:t>
            </a:r>
            <a:endParaRPr kumimoji="1" lang="en-US" altLang="zh-CN"/>
          </a:p>
        </p:txBody>
      </p:sp>
      <p:sp>
        <p:nvSpPr>
          <p:cNvPr id="22" name="文本框 21"/>
          <p:cNvSpPr txBox="1"/>
          <p:nvPr/>
        </p:nvSpPr>
        <p:spPr>
          <a:xfrm>
            <a:off x="2575560" y="1148715"/>
            <a:ext cx="2905125" cy="368300"/>
          </a:xfrm>
          <a:prstGeom prst="rect">
            <a:avLst/>
          </a:prstGeom>
          <a:noFill/>
        </p:spPr>
        <p:txBody>
          <a:bodyPr wrap="square" rtlCol="0">
            <a:spAutoFit/>
          </a:bodyPr>
          <a:p>
            <a:pPr marL="285750" indent="-285750">
              <a:buFont typeface="Arial" panose="020B0604020202020204" pitchFamily="34" charset="0"/>
              <a:buChar char="•"/>
            </a:pPr>
            <a:r>
              <a:rPr lang="en-US" altLang="zh-CN" b="1"/>
              <a:t>Medical Image Analysis</a:t>
            </a:r>
            <a:endParaRPr lang="en-US" altLang="zh-CN" b="1"/>
          </a:p>
        </p:txBody>
      </p:sp>
      <p:sp>
        <p:nvSpPr>
          <p:cNvPr id="23" name="文本框 22"/>
          <p:cNvSpPr txBox="1"/>
          <p:nvPr/>
        </p:nvSpPr>
        <p:spPr>
          <a:xfrm>
            <a:off x="2575560" y="4603115"/>
            <a:ext cx="2647315" cy="368300"/>
          </a:xfrm>
          <a:prstGeom prst="rect">
            <a:avLst/>
          </a:prstGeom>
          <a:noFill/>
        </p:spPr>
        <p:txBody>
          <a:bodyPr wrap="square" rtlCol="0">
            <a:spAutoFit/>
          </a:bodyPr>
          <a:p>
            <a:pPr marL="285750" indent="-285750">
              <a:buFont typeface="Arial" panose="020B0604020202020204" pitchFamily="34" charset="0"/>
              <a:buChar char="•"/>
            </a:pPr>
            <a:r>
              <a:rPr lang="en-US" altLang="zh-CN" b="1"/>
              <a:t>Implantable Sensing</a:t>
            </a:r>
            <a:endParaRPr lang="en-US" altLang="zh-CN" b="1"/>
          </a:p>
        </p:txBody>
      </p:sp>
      <p:sp>
        <p:nvSpPr>
          <p:cNvPr id="29" name="文本框 28"/>
          <p:cNvSpPr txBox="1"/>
          <p:nvPr/>
        </p:nvSpPr>
        <p:spPr>
          <a:xfrm>
            <a:off x="3852545" y="1506855"/>
            <a:ext cx="772795" cy="306705"/>
          </a:xfrm>
          <a:prstGeom prst="rect">
            <a:avLst/>
          </a:prstGeom>
          <a:noFill/>
        </p:spPr>
        <p:txBody>
          <a:bodyPr wrap="square" rtlCol="0">
            <a:spAutoFit/>
          </a:bodyPr>
          <a:p>
            <a:r>
              <a:rPr lang="en-US" altLang="zh-CN" sz="1400" b="1"/>
              <a:t>X-Ray</a:t>
            </a:r>
            <a:endParaRPr lang="en-US" altLang="zh-CN" sz="1400" b="1"/>
          </a:p>
        </p:txBody>
      </p:sp>
      <p:sp>
        <p:nvSpPr>
          <p:cNvPr id="30" name="文本框 29"/>
          <p:cNvSpPr txBox="1"/>
          <p:nvPr/>
        </p:nvSpPr>
        <p:spPr>
          <a:xfrm>
            <a:off x="7229475" y="1527175"/>
            <a:ext cx="544830" cy="306705"/>
          </a:xfrm>
          <a:prstGeom prst="rect">
            <a:avLst/>
          </a:prstGeom>
          <a:noFill/>
        </p:spPr>
        <p:txBody>
          <a:bodyPr wrap="square" rtlCol="0">
            <a:spAutoFit/>
          </a:bodyPr>
          <a:p>
            <a:r>
              <a:rPr lang="en-US" altLang="zh-CN" sz="1400" b="1"/>
              <a:t>CT</a:t>
            </a:r>
            <a:endParaRPr lang="en-US" altLang="zh-CN" sz="1400" b="1"/>
          </a:p>
        </p:txBody>
      </p:sp>
      <p:sp>
        <p:nvSpPr>
          <p:cNvPr id="31" name="文本框 30"/>
          <p:cNvSpPr txBox="1"/>
          <p:nvPr/>
        </p:nvSpPr>
        <p:spPr>
          <a:xfrm>
            <a:off x="10387330" y="1536065"/>
            <a:ext cx="539115" cy="306705"/>
          </a:xfrm>
          <a:prstGeom prst="rect">
            <a:avLst/>
          </a:prstGeom>
          <a:noFill/>
        </p:spPr>
        <p:txBody>
          <a:bodyPr wrap="square" rtlCol="0">
            <a:spAutoFit/>
          </a:bodyPr>
          <a:p>
            <a:r>
              <a:rPr lang="en-US" altLang="zh-CN" sz="1400" b="1"/>
              <a:t>MRI</a:t>
            </a:r>
            <a:endParaRPr lang="en-US" altLang="zh-CN" sz="1400" b="1"/>
          </a:p>
        </p:txBody>
      </p:sp>
      <p:pic>
        <p:nvPicPr>
          <p:cNvPr id="3" name="图片 2" descr="X-Ray"/>
          <p:cNvPicPr>
            <a:picLocks noChangeAspect="1"/>
          </p:cNvPicPr>
          <p:nvPr/>
        </p:nvPicPr>
        <p:blipFill>
          <a:blip r:embed="rId1"/>
          <a:stretch>
            <a:fillRect/>
          </a:stretch>
        </p:blipFill>
        <p:spPr>
          <a:xfrm>
            <a:off x="2859405" y="1771015"/>
            <a:ext cx="2821305" cy="1957705"/>
          </a:xfrm>
          <a:prstGeom prst="rect">
            <a:avLst/>
          </a:prstGeom>
        </p:spPr>
      </p:pic>
      <p:pic>
        <p:nvPicPr>
          <p:cNvPr id="4" name="图片 3" descr="CT"/>
          <p:cNvPicPr>
            <a:picLocks noChangeAspect="1"/>
          </p:cNvPicPr>
          <p:nvPr/>
        </p:nvPicPr>
        <p:blipFill>
          <a:blip r:embed="rId2"/>
          <a:stretch>
            <a:fillRect/>
          </a:stretch>
        </p:blipFill>
        <p:spPr>
          <a:xfrm>
            <a:off x="6149975" y="1831975"/>
            <a:ext cx="2618105" cy="1837055"/>
          </a:xfrm>
          <a:prstGeom prst="rect">
            <a:avLst/>
          </a:prstGeom>
        </p:spPr>
      </p:pic>
      <p:pic>
        <p:nvPicPr>
          <p:cNvPr id="5" name="图片 4" descr="MRI"/>
          <p:cNvPicPr>
            <a:picLocks noChangeAspect="1"/>
          </p:cNvPicPr>
          <p:nvPr/>
        </p:nvPicPr>
        <p:blipFill>
          <a:blip r:embed="rId3"/>
          <a:stretch>
            <a:fillRect/>
          </a:stretch>
        </p:blipFill>
        <p:spPr>
          <a:xfrm>
            <a:off x="9271000" y="1842770"/>
            <a:ext cx="2771775" cy="1838325"/>
          </a:xfrm>
          <a:prstGeom prst="rect">
            <a:avLst/>
          </a:prstGeom>
        </p:spPr>
      </p:pic>
      <p:sp>
        <p:nvSpPr>
          <p:cNvPr id="6" name="文本框 5"/>
          <p:cNvSpPr txBox="1"/>
          <p:nvPr/>
        </p:nvSpPr>
        <p:spPr>
          <a:xfrm>
            <a:off x="2859405" y="3757930"/>
            <a:ext cx="9183370" cy="737235"/>
          </a:xfrm>
          <a:prstGeom prst="rect">
            <a:avLst/>
          </a:prstGeom>
          <a:noFill/>
        </p:spPr>
        <p:txBody>
          <a:bodyPr wrap="square" rtlCol="0">
            <a:spAutoFit/>
          </a:bodyPr>
          <a:p>
            <a:r>
              <a:rPr lang="en-US" altLang="zh-CN" sz="1400"/>
              <a:t>As mentioned above, an integrated system that combines image acquisition, algorithmic inference, and result display &amp; transmission can be built for both online and offline clinical scenarios. At the same time, data is automatically collected, classified and stored to support subsequent offline model training and data augmentation.</a:t>
            </a:r>
            <a:endParaRPr lang="en-US" altLang="zh-CN" sz="1400"/>
          </a:p>
        </p:txBody>
      </p:sp>
      <p:sp>
        <p:nvSpPr>
          <p:cNvPr id="11" name="文本框 10"/>
          <p:cNvSpPr txBox="1"/>
          <p:nvPr/>
        </p:nvSpPr>
        <p:spPr>
          <a:xfrm>
            <a:off x="2859405" y="4951095"/>
            <a:ext cx="9182735" cy="1631950"/>
          </a:xfrm>
          <a:prstGeom prst="rect">
            <a:avLst/>
          </a:prstGeom>
          <a:noFill/>
        </p:spPr>
        <p:txBody>
          <a:bodyPr wrap="square" rtlCol="0">
            <a:noAutofit/>
          </a:bodyPr>
          <a:p>
            <a:r>
              <a:rPr lang="en-US" altLang="zh-CN" sz="1400"/>
              <a:t>Dynamic monitoring of implant-related parameters (</a:t>
            </a:r>
            <a:r>
              <a:rPr lang="en-US" altLang="zh-CN" sz="1400" b="1">
                <a:solidFill>
                  <a:srgbClr val="00B050"/>
                </a:solidFill>
              </a:rPr>
              <a:t>Temperature, Humidity, Pressure</a:t>
            </a:r>
            <a:r>
              <a:rPr lang="en-US" altLang="zh-CN" sz="1400"/>
              <a:t>) and human body parameters (</a:t>
            </a:r>
            <a:r>
              <a:rPr lang="en-US" altLang="zh-CN" sz="1400" b="1">
                <a:solidFill>
                  <a:srgbClr val="00B0F0"/>
                </a:solidFill>
              </a:rPr>
              <a:t>Tissue Strain, Joint Angle, Tendon Tension, Bone Load,</a:t>
            </a:r>
            <a:r>
              <a:rPr lang="en-US" altLang="zh-CN" sz="1400" b="1">
                <a:noFill/>
              </a:rPr>
              <a:t> </a:t>
            </a:r>
            <a:r>
              <a:rPr lang="en-US" altLang="zh-CN" sz="1400" b="1">
                <a:solidFill>
                  <a:srgbClr val="FF0000"/>
                </a:solidFill>
              </a:rPr>
              <a:t>pH Value, Blood Oxygen Saturation, Blood Glucose Concentration, Body Fluid Ion Concentration</a:t>
            </a:r>
            <a:r>
              <a:rPr lang="en-US" altLang="zh-CN" sz="1400"/>
              <a:t>) not only assists in assessing tissue metabolic status and implant degradation environments but also enables feedback of monitored data to MD or FEA as input parameters or calibration references. This helps </a:t>
            </a:r>
            <a:r>
              <a:rPr lang="en-US" altLang="zh-CN" sz="1400" b="1"/>
              <a:t>enhance the realism and accuracy of simulations</a:t>
            </a:r>
            <a:r>
              <a:rPr lang="en-US" altLang="zh-CN" sz="1400"/>
              <a:t>, </a:t>
            </a:r>
            <a:r>
              <a:rPr lang="en-US" altLang="zh-CN" sz="1400" b="1"/>
              <a:t>optimize implant design</a:t>
            </a:r>
            <a:r>
              <a:rPr lang="en-US" altLang="zh-CN" sz="1400"/>
              <a:t>, </a:t>
            </a:r>
            <a:r>
              <a:rPr lang="en-US" altLang="zh-CN" sz="1400" b="1"/>
              <a:t>predict postoperative complications</a:t>
            </a:r>
            <a:r>
              <a:rPr lang="en-US" altLang="zh-CN" sz="1400"/>
              <a:t> (e.g., loosening caused by stress concentration), and </a:t>
            </a:r>
            <a:r>
              <a:rPr lang="en-US" altLang="zh-CN" sz="1400" b="1"/>
              <a:t>provide data support for customized treatment plans</a:t>
            </a:r>
            <a:r>
              <a:rPr lang="en-US" altLang="zh-CN" sz="1400"/>
              <a:t>.</a:t>
            </a:r>
            <a:endParaRPr lang="en-US" altLang="zh-CN" sz="14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36484" y="90083"/>
            <a:ext cx="6109138" cy="523220"/>
          </a:xfrm>
          <a:prstGeom prst="rect">
            <a:avLst/>
          </a:prstGeom>
          <a:noFill/>
        </p:spPr>
        <p:txBody>
          <a:bodyPr wrap="square">
            <a:spAutoFit/>
          </a:bodyPr>
          <a:lstStyle/>
          <a:p>
            <a:pPr>
              <a:buSzPct val="85000"/>
            </a:pPr>
            <a:r>
              <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Personal Introduction</a:t>
            </a:r>
            <a:endParaRPr kumimoji="1" lang="en-GB" altLang="zh-CN" sz="2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0" y="0"/>
            <a:ext cx="12191999" cy="794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p:cNvSpPr txBox="1"/>
          <p:nvPr/>
        </p:nvSpPr>
        <p:spPr>
          <a:xfrm>
            <a:off x="508000" y="180340"/>
            <a:ext cx="11563985" cy="521970"/>
          </a:xfrm>
          <a:prstGeom prst="rect">
            <a:avLst/>
          </a:prstGeom>
          <a:noFill/>
        </p:spPr>
        <p:txBody>
          <a:bodyPr wrap="square">
            <a:spAutoFit/>
          </a:bodyPr>
          <a:lstStyle/>
          <a:p>
            <a:pPr marL="457200" indent="-457200">
              <a:buSzPct val="85000"/>
              <a:buFont typeface="Wingdings" panose="05000000000000000000" pitchFamily="2" charset="2"/>
              <a:buChar char="n"/>
            </a:pPr>
            <a:r>
              <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Combination of Algorithm Enginneering &amp; Clinic in Bones</a:t>
            </a:r>
            <a:endParaRPr kumimoji="1" lang="en-US" altLang="en-GB" sz="2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473710" y="3274060"/>
            <a:ext cx="3086100" cy="655320"/>
          </a:xfrm>
          <a:prstGeom prst="rect">
            <a:avLst/>
          </a:prstGeom>
        </p:spPr>
      </p:pic>
      <p:sp>
        <p:nvSpPr>
          <p:cNvPr id="26" name="矩形 25"/>
          <p:cNvSpPr/>
          <p:nvPr/>
        </p:nvSpPr>
        <p:spPr>
          <a:xfrm>
            <a:off x="0" y="6780112"/>
            <a:ext cx="12192000" cy="778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灯片编号占位符 2"/>
          <p:cNvSpPr>
            <a:spLocks noGrp="1"/>
          </p:cNvSpPr>
          <p:nvPr>
            <p:ph type="sldNum" sz="quarter" idx="12"/>
          </p:nvPr>
        </p:nvSpPr>
        <p:spPr>
          <a:xfrm>
            <a:off x="11576529" y="6405864"/>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8" name="流程图: 联系 7"/>
          <p:cNvSpPr/>
          <p:nvPr/>
        </p:nvSpPr>
        <p:spPr>
          <a:xfrm>
            <a:off x="4853305" y="3800475"/>
            <a:ext cx="2084070" cy="2084070"/>
          </a:xfrm>
          <a:prstGeom prst="flowChartConnector">
            <a:avLst/>
          </a:prstGeom>
          <a:gradFill>
            <a:gsLst>
              <a:gs pos="50000">
                <a:schemeClr val="accent1"/>
              </a:gs>
              <a:gs pos="0">
                <a:schemeClr val="accent1">
                  <a:lumMod val="25000"/>
                  <a:lumOff val="75000"/>
                </a:schemeClr>
              </a:gs>
              <a:gs pos="100000">
                <a:schemeClr val="accent1">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t>Engineering</a:t>
            </a:r>
            <a:endParaRPr kumimoji="1" lang="en-US" altLang="zh-CN"/>
          </a:p>
        </p:txBody>
      </p:sp>
      <p:sp>
        <p:nvSpPr>
          <p:cNvPr id="9" name="流程图: 联系 8"/>
          <p:cNvSpPr/>
          <p:nvPr/>
        </p:nvSpPr>
        <p:spPr>
          <a:xfrm>
            <a:off x="3119120" y="1417320"/>
            <a:ext cx="2084070" cy="2084070"/>
          </a:xfrm>
          <a:prstGeom prst="flowChartConnector">
            <a:avLst/>
          </a:prstGeom>
          <a:gradFill>
            <a:gsLst>
              <a:gs pos="50000">
                <a:schemeClr val="accent5"/>
              </a:gs>
              <a:gs pos="0">
                <a:schemeClr val="accent5">
                  <a:lumMod val="25000"/>
                  <a:lumOff val="75000"/>
                </a:schemeClr>
              </a:gs>
              <a:gs pos="100000">
                <a:schemeClr val="accent5">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t>Algorithm</a:t>
            </a:r>
            <a:endParaRPr kumimoji="1" lang="en-US" altLang="zh-CN"/>
          </a:p>
        </p:txBody>
      </p:sp>
      <p:sp>
        <p:nvSpPr>
          <p:cNvPr id="13" name="流程图: 联系 12"/>
          <p:cNvSpPr/>
          <p:nvPr/>
        </p:nvSpPr>
        <p:spPr>
          <a:xfrm>
            <a:off x="6587490" y="1417320"/>
            <a:ext cx="2084070" cy="2084070"/>
          </a:xfrm>
          <a:prstGeom prst="flowChartConnector">
            <a:avLst/>
          </a:prstGeom>
          <a:gradFill>
            <a:gsLst>
              <a:gs pos="50000">
                <a:schemeClr val="accent6"/>
              </a:gs>
              <a:gs pos="0">
                <a:schemeClr val="accent6">
                  <a:lumMod val="25000"/>
                  <a:lumOff val="75000"/>
                </a:schemeClr>
              </a:gs>
              <a:gs pos="100000">
                <a:schemeClr val="accent6">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kumimoji="1" lang="en-US" altLang="zh-CN"/>
              <a:t>Clinic</a:t>
            </a:r>
            <a:endParaRPr kumimoji="1" lang="en-US" altLang="zh-CN"/>
          </a:p>
        </p:txBody>
      </p:sp>
      <p:sp>
        <p:nvSpPr>
          <p:cNvPr id="3" name="文本框 2"/>
          <p:cNvSpPr txBox="1"/>
          <p:nvPr/>
        </p:nvSpPr>
        <p:spPr>
          <a:xfrm>
            <a:off x="233680" y="1385570"/>
            <a:ext cx="2843530" cy="368300"/>
          </a:xfrm>
          <a:prstGeom prst="rect">
            <a:avLst/>
          </a:prstGeom>
          <a:noFill/>
        </p:spPr>
        <p:txBody>
          <a:bodyPr wrap="square" rtlCol="0">
            <a:spAutoFit/>
          </a:bodyPr>
          <a:p>
            <a:pPr marL="285750" indent="-285750">
              <a:buFont typeface="Arial" panose="020B0604020202020204" pitchFamily="34" charset="0"/>
              <a:buChar char="•"/>
            </a:pPr>
            <a:r>
              <a:rPr lang="en-US" altLang="zh-CN" b="1"/>
              <a:t>Finite Element Analysis</a:t>
            </a:r>
            <a:endParaRPr lang="en-US" altLang="zh-CN" b="1"/>
          </a:p>
        </p:txBody>
      </p:sp>
      <p:sp>
        <p:nvSpPr>
          <p:cNvPr id="4" name="文本框 3"/>
          <p:cNvSpPr txBox="1"/>
          <p:nvPr/>
        </p:nvSpPr>
        <p:spPr>
          <a:xfrm>
            <a:off x="233680" y="2812415"/>
            <a:ext cx="2722880" cy="368300"/>
          </a:xfrm>
          <a:prstGeom prst="rect">
            <a:avLst/>
          </a:prstGeom>
          <a:noFill/>
        </p:spPr>
        <p:txBody>
          <a:bodyPr wrap="square" rtlCol="0">
            <a:spAutoFit/>
          </a:bodyPr>
          <a:p>
            <a:pPr marL="285750" indent="-285750">
              <a:buFont typeface="Arial" panose="020B0604020202020204" pitchFamily="34" charset="0"/>
              <a:buChar char="•"/>
            </a:pPr>
            <a:r>
              <a:rPr lang="en-US" altLang="zh-CN" b="1"/>
              <a:t>Molecular Dynamics</a:t>
            </a:r>
            <a:endParaRPr lang="en-US" altLang="zh-CN" b="1"/>
          </a:p>
        </p:txBody>
      </p:sp>
      <p:sp>
        <p:nvSpPr>
          <p:cNvPr id="18" name="左大括号 17"/>
          <p:cNvSpPr/>
          <p:nvPr/>
        </p:nvSpPr>
        <p:spPr>
          <a:xfrm>
            <a:off x="697230" y="1933575"/>
            <a:ext cx="231775" cy="52387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文本框 5"/>
          <p:cNvSpPr txBox="1"/>
          <p:nvPr/>
        </p:nvSpPr>
        <p:spPr>
          <a:xfrm>
            <a:off x="929005" y="1814195"/>
            <a:ext cx="1828800" cy="306705"/>
          </a:xfrm>
          <a:prstGeom prst="rect">
            <a:avLst/>
          </a:prstGeom>
          <a:noFill/>
        </p:spPr>
        <p:txBody>
          <a:bodyPr wrap="square" rtlCol="0">
            <a:spAutoFit/>
          </a:bodyPr>
          <a:p>
            <a:pPr indent="0">
              <a:buNone/>
            </a:pPr>
            <a:r>
              <a:rPr lang="en-US" altLang="zh-CN" sz="1400" b="1"/>
              <a:t>Abaqus</a:t>
            </a:r>
            <a:endParaRPr lang="en-US" altLang="zh-CN" sz="1400" b="1"/>
          </a:p>
        </p:txBody>
      </p:sp>
      <p:sp>
        <p:nvSpPr>
          <p:cNvPr id="10" name="文本框 9"/>
          <p:cNvSpPr txBox="1"/>
          <p:nvPr/>
        </p:nvSpPr>
        <p:spPr>
          <a:xfrm>
            <a:off x="929640" y="2223770"/>
            <a:ext cx="1828165" cy="337185"/>
          </a:xfrm>
          <a:prstGeom prst="rect">
            <a:avLst/>
          </a:prstGeom>
          <a:noFill/>
        </p:spPr>
        <p:txBody>
          <a:bodyPr wrap="square" rtlCol="0">
            <a:spAutoFit/>
          </a:bodyPr>
          <a:p>
            <a:pPr indent="0">
              <a:buNone/>
            </a:pPr>
            <a:r>
              <a:rPr lang="en-US" altLang="zh-CN" sz="1600" b="1"/>
              <a:t>Ansys</a:t>
            </a:r>
            <a:endParaRPr lang="en-US" altLang="zh-CN" sz="1600" b="1"/>
          </a:p>
        </p:txBody>
      </p:sp>
      <p:sp>
        <p:nvSpPr>
          <p:cNvPr id="12" name="文本框 11"/>
          <p:cNvSpPr txBox="1"/>
          <p:nvPr/>
        </p:nvSpPr>
        <p:spPr>
          <a:xfrm>
            <a:off x="233680" y="4144645"/>
            <a:ext cx="4064000" cy="368300"/>
          </a:xfrm>
          <a:prstGeom prst="rect">
            <a:avLst/>
          </a:prstGeom>
          <a:noFill/>
        </p:spPr>
        <p:txBody>
          <a:bodyPr wrap="square" rtlCol="0">
            <a:spAutoFit/>
          </a:bodyPr>
          <a:p>
            <a:pPr marL="285750" indent="-285750">
              <a:buFont typeface="Arial" panose="020B0604020202020204" pitchFamily="34" charset="0"/>
              <a:buChar char="•"/>
            </a:pPr>
            <a:r>
              <a:rPr lang="en-US" altLang="zh-CN" b="1"/>
              <a:t>Biomedical Image Processing</a:t>
            </a:r>
            <a:endParaRPr lang="en-US" altLang="zh-CN" b="1"/>
          </a:p>
        </p:txBody>
      </p:sp>
      <p:sp>
        <p:nvSpPr>
          <p:cNvPr id="17" name="文本框 16"/>
          <p:cNvSpPr txBox="1"/>
          <p:nvPr/>
        </p:nvSpPr>
        <p:spPr>
          <a:xfrm>
            <a:off x="6937375" y="4522470"/>
            <a:ext cx="4064000" cy="368300"/>
          </a:xfrm>
          <a:prstGeom prst="rect">
            <a:avLst/>
          </a:prstGeom>
          <a:noFill/>
        </p:spPr>
        <p:txBody>
          <a:bodyPr wrap="square" rtlCol="0">
            <a:spAutoFit/>
          </a:bodyPr>
          <a:p>
            <a:pPr marL="285750" indent="-285750">
              <a:buFont typeface="Arial" panose="020B0604020202020204" pitchFamily="34" charset="0"/>
              <a:buChar char="•"/>
            </a:pPr>
            <a:r>
              <a:rPr lang="en-US" altLang="zh-CN" b="1"/>
              <a:t>Image Processing Integration</a:t>
            </a:r>
            <a:endParaRPr lang="en-US" altLang="zh-CN" b="1"/>
          </a:p>
        </p:txBody>
      </p:sp>
      <p:sp>
        <p:nvSpPr>
          <p:cNvPr id="19" name="文本框 18"/>
          <p:cNvSpPr txBox="1"/>
          <p:nvPr/>
        </p:nvSpPr>
        <p:spPr>
          <a:xfrm>
            <a:off x="6937375" y="4903470"/>
            <a:ext cx="4064000" cy="368300"/>
          </a:xfrm>
          <a:prstGeom prst="rect">
            <a:avLst/>
          </a:prstGeom>
          <a:noFill/>
        </p:spPr>
        <p:txBody>
          <a:bodyPr wrap="square" rtlCol="0">
            <a:spAutoFit/>
          </a:bodyPr>
          <a:p>
            <a:pPr marL="285750" indent="-285750">
              <a:buFont typeface="Arial" panose="020B0604020202020204" pitchFamily="34" charset="0"/>
              <a:buChar char="•"/>
            </a:pPr>
            <a:r>
              <a:rPr lang="en-US" altLang="zh-CN" b="1">
                <a:sym typeface="+mn-ea"/>
              </a:rPr>
              <a:t>Image Auto Collection &amp; Sorting</a:t>
            </a:r>
            <a:endParaRPr lang="en-US" altLang="zh-CN" b="1">
              <a:sym typeface="+mn-ea"/>
            </a:endParaRPr>
          </a:p>
        </p:txBody>
      </p:sp>
      <p:sp>
        <p:nvSpPr>
          <p:cNvPr id="20" name="文本框 19"/>
          <p:cNvSpPr txBox="1"/>
          <p:nvPr/>
        </p:nvSpPr>
        <p:spPr>
          <a:xfrm>
            <a:off x="6937375" y="6046470"/>
            <a:ext cx="4409440" cy="368300"/>
          </a:xfrm>
          <a:prstGeom prst="rect">
            <a:avLst/>
          </a:prstGeom>
          <a:noFill/>
        </p:spPr>
        <p:txBody>
          <a:bodyPr wrap="square" rtlCol="0">
            <a:spAutoFit/>
          </a:bodyPr>
          <a:p>
            <a:pPr marL="285750" indent="-285750">
              <a:buFont typeface="Arial" panose="020B0604020202020204" pitchFamily="34" charset="0"/>
              <a:buChar char="•"/>
            </a:pPr>
            <a:r>
              <a:rPr lang="en-US" altLang="zh-CN" b="1"/>
              <a:t>AI System Deployment &amp; Adjustment</a:t>
            </a:r>
            <a:endParaRPr lang="en-US" altLang="zh-CN" b="1"/>
          </a:p>
        </p:txBody>
      </p:sp>
      <p:sp>
        <p:nvSpPr>
          <p:cNvPr id="21" name="文本框 20"/>
          <p:cNvSpPr txBox="1"/>
          <p:nvPr/>
        </p:nvSpPr>
        <p:spPr>
          <a:xfrm>
            <a:off x="6937375" y="5665470"/>
            <a:ext cx="4409440" cy="368300"/>
          </a:xfrm>
          <a:prstGeom prst="rect">
            <a:avLst/>
          </a:prstGeom>
          <a:noFill/>
        </p:spPr>
        <p:txBody>
          <a:bodyPr wrap="square" rtlCol="0">
            <a:spAutoFit/>
          </a:bodyPr>
          <a:p>
            <a:pPr marL="285750" indent="-285750">
              <a:buFont typeface="Arial" panose="020B0604020202020204" pitchFamily="34" charset="0"/>
              <a:buChar char="•"/>
            </a:pPr>
            <a:r>
              <a:rPr lang="en-US" altLang="zh-CN" b="1"/>
              <a:t>AI Acceleration</a:t>
            </a:r>
            <a:endParaRPr lang="en-US" altLang="zh-CN" b="1"/>
          </a:p>
        </p:txBody>
      </p:sp>
      <p:sp>
        <p:nvSpPr>
          <p:cNvPr id="22" name="文本框 21"/>
          <p:cNvSpPr txBox="1"/>
          <p:nvPr/>
        </p:nvSpPr>
        <p:spPr>
          <a:xfrm>
            <a:off x="8671560" y="1517015"/>
            <a:ext cx="2905125" cy="368300"/>
          </a:xfrm>
          <a:prstGeom prst="rect">
            <a:avLst/>
          </a:prstGeom>
          <a:noFill/>
        </p:spPr>
        <p:txBody>
          <a:bodyPr wrap="square" rtlCol="0">
            <a:spAutoFit/>
          </a:bodyPr>
          <a:p>
            <a:pPr marL="285750" indent="-285750">
              <a:buFont typeface="Arial" panose="020B0604020202020204" pitchFamily="34" charset="0"/>
              <a:buChar char="•"/>
            </a:pPr>
            <a:r>
              <a:rPr lang="en-US" altLang="zh-CN" b="1"/>
              <a:t>Medical Image Analysis</a:t>
            </a:r>
            <a:endParaRPr lang="en-US" altLang="zh-CN" b="1"/>
          </a:p>
        </p:txBody>
      </p:sp>
      <p:sp>
        <p:nvSpPr>
          <p:cNvPr id="23" name="文本框 22"/>
          <p:cNvSpPr txBox="1"/>
          <p:nvPr/>
        </p:nvSpPr>
        <p:spPr>
          <a:xfrm>
            <a:off x="8671560" y="2844800"/>
            <a:ext cx="2647315" cy="368300"/>
          </a:xfrm>
          <a:prstGeom prst="rect">
            <a:avLst/>
          </a:prstGeom>
          <a:noFill/>
        </p:spPr>
        <p:txBody>
          <a:bodyPr wrap="square" rtlCol="0">
            <a:spAutoFit/>
          </a:bodyPr>
          <a:p>
            <a:pPr marL="285750" indent="-285750">
              <a:buFont typeface="Arial" panose="020B0604020202020204" pitchFamily="34" charset="0"/>
              <a:buChar char="•"/>
            </a:pPr>
            <a:r>
              <a:rPr lang="en-US" altLang="zh-CN" b="1"/>
              <a:t>Implantable Sensing</a:t>
            </a:r>
            <a:endParaRPr lang="en-US" altLang="zh-CN" b="1"/>
          </a:p>
        </p:txBody>
      </p:sp>
      <p:sp>
        <p:nvSpPr>
          <p:cNvPr id="24" name="左大括号 23"/>
          <p:cNvSpPr/>
          <p:nvPr/>
        </p:nvSpPr>
        <p:spPr>
          <a:xfrm>
            <a:off x="8975725" y="2027555"/>
            <a:ext cx="223520" cy="67183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左大括号 27"/>
          <p:cNvSpPr/>
          <p:nvPr/>
        </p:nvSpPr>
        <p:spPr>
          <a:xfrm>
            <a:off x="8955405" y="3345815"/>
            <a:ext cx="243840" cy="61277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文本框 28"/>
          <p:cNvSpPr txBox="1"/>
          <p:nvPr/>
        </p:nvSpPr>
        <p:spPr>
          <a:xfrm>
            <a:off x="9199245" y="1885315"/>
            <a:ext cx="4064000" cy="306705"/>
          </a:xfrm>
          <a:prstGeom prst="rect">
            <a:avLst/>
          </a:prstGeom>
          <a:noFill/>
        </p:spPr>
        <p:txBody>
          <a:bodyPr wrap="square" rtlCol="0">
            <a:spAutoFit/>
          </a:bodyPr>
          <a:p>
            <a:r>
              <a:rPr lang="en-US" altLang="zh-CN" sz="1400" b="1"/>
              <a:t>X-Ray</a:t>
            </a:r>
            <a:endParaRPr lang="en-US" altLang="zh-CN" sz="1400" b="1"/>
          </a:p>
        </p:txBody>
      </p:sp>
      <p:sp>
        <p:nvSpPr>
          <p:cNvPr id="30" name="文本框 29"/>
          <p:cNvSpPr txBox="1"/>
          <p:nvPr/>
        </p:nvSpPr>
        <p:spPr>
          <a:xfrm>
            <a:off x="9199245" y="2211705"/>
            <a:ext cx="4064000" cy="306705"/>
          </a:xfrm>
          <a:prstGeom prst="rect">
            <a:avLst/>
          </a:prstGeom>
          <a:noFill/>
        </p:spPr>
        <p:txBody>
          <a:bodyPr wrap="square" rtlCol="0">
            <a:spAutoFit/>
          </a:bodyPr>
          <a:p>
            <a:r>
              <a:rPr lang="en-US" altLang="zh-CN" sz="1400" b="1"/>
              <a:t>CT</a:t>
            </a:r>
            <a:endParaRPr lang="en-US" altLang="zh-CN" sz="1400" b="1"/>
          </a:p>
        </p:txBody>
      </p:sp>
      <p:sp>
        <p:nvSpPr>
          <p:cNvPr id="31" name="文本框 30"/>
          <p:cNvSpPr txBox="1"/>
          <p:nvPr/>
        </p:nvSpPr>
        <p:spPr>
          <a:xfrm>
            <a:off x="9199245" y="2538095"/>
            <a:ext cx="4064000" cy="306705"/>
          </a:xfrm>
          <a:prstGeom prst="rect">
            <a:avLst/>
          </a:prstGeom>
          <a:noFill/>
        </p:spPr>
        <p:txBody>
          <a:bodyPr wrap="square" rtlCol="0">
            <a:spAutoFit/>
          </a:bodyPr>
          <a:p>
            <a:r>
              <a:rPr lang="en-US" altLang="zh-CN" sz="1400" b="1"/>
              <a:t>MRI</a:t>
            </a:r>
            <a:endParaRPr lang="en-US" altLang="zh-CN" sz="1400" b="1"/>
          </a:p>
        </p:txBody>
      </p:sp>
      <p:sp>
        <p:nvSpPr>
          <p:cNvPr id="32" name="文本框 31"/>
          <p:cNvSpPr txBox="1"/>
          <p:nvPr/>
        </p:nvSpPr>
        <p:spPr>
          <a:xfrm>
            <a:off x="9199245" y="3192780"/>
            <a:ext cx="4064000" cy="306705"/>
          </a:xfrm>
          <a:prstGeom prst="rect">
            <a:avLst/>
          </a:prstGeom>
          <a:noFill/>
        </p:spPr>
        <p:txBody>
          <a:bodyPr wrap="square" rtlCol="0">
            <a:spAutoFit/>
          </a:bodyPr>
          <a:p>
            <a:r>
              <a:rPr lang="en-US" altLang="zh-CN" sz="1400" b="1"/>
              <a:t>Temperature</a:t>
            </a:r>
            <a:endParaRPr lang="en-US" altLang="zh-CN" sz="1400" b="1"/>
          </a:p>
        </p:txBody>
      </p:sp>
      <p:sp>
        <p:nvSpPr>
          <p:cNvPr id="33" name="文本框 32"/>
          <p:cNvSpPr txBox="1"/>
          <p:nvPr/>
        </p:nvSpPr>
        <p:spPr>
          <a:xfrm>
            <a:off x="9199245" y="3493135"/>
            <a:ext cx="4064000" cy="306705"/>
          </a:xfrm>
          <a:prstGeom prst="rect">
            <a:avLst/>
          </a:prstGeom>
          <a:noFill/>
        </p:spPr>
        <p:txBody>
          <a:bodyPr wrap="square" rtlCol="0">
            <a:spAutoFit/>
          </a:bodyPr>
          <a:p>
            <a:r>
              <a:rPr lang="en-US" altLang="zh-CN" sz="1400" b="1"/>
              <a:t>Humidity</a:t>
            </a:r>
            <a:endParaRPr lang="en-US" altLang="zh-CN" sz="1400" b="1"/>
          </a:p>
        </p:txBody>
      </p:sp>
      <p:sp>
        <p:nvSpPr>
          <p:cNvPr id="34" name="文本框 33"/>
          <p:cNvSpPr txBox="1"/>
          <p:nvPr/>
        </p:nvSpPr>
        <p:spPr>
          <a:xfrm>
            <a:off x="9199245" y="3793490"/>
            <a:ext cx="4064000" cy="306705"/>
          </a:xfrm>
          <a:prstGeom prst="rect">
            <a:avLst/>
          </a:prstGeom>
          <a:noFill/>
        </p:spPr>
        <p:txBody>
          <a:bodyPr wrap="square" rtlCol="0">
            <a:spAutoFit/>
          </a:bodyPr>
          <a:p>
            <a:r>
              <a:rPr lang="en-US" altLang="zh-CN" sz="1400" b="1"/>
              <a:t>Pressure</a:t>
            </a:r>
            <a:endParaRPr lang="en-US" altLang="zh-CN" sz="1400" b="1"/>
          </a:p>
        </p:txBody>
      </p:sp>
      <p:sp>
        <p:nvSpPr>
          <p:cNvPr id="35" name="文本框 34"/>
          <p:cNvSpPr txBox="1"/>
          <p:nvPr/>
        </p:nvSpPr>
        <p:spPr>
          <a:xfrm>
            <a:off x="6937375" y="5284470"/>
            <a:ext cx="5253990" cy="368300"/>
          </a:xfrm>
          <a:prstGeom prst="rect">
            <a:avLst/>
          </a:prstGeom>
          <a:noFill/>
        </p:spPr>
        <p:txBody>
          <a:bodyPr wrap="square" rtlCol="0">
            <a:spAutoFit/>
          </a:bodyPr>
          <a:p>
            <a:pPr marL="285750" indent="-285750">
              <a:buFont typeface="Arial" panose="020B0604020202020204" pitchFamily="34" charset="0"/>
              <a:buChar char="•"/>
            </a:pPr>
            <a:r>
              <a:rPr lang="en-US" altLang="zh-CN" b="1"/>
              <a:t>User Friendly Interface Software Development</a:t>
            </a:r>
            <a:endParaRPr lang="en-US" altLang="zh-CN" b="1"/>
          </a:p>
        </p:txBody>
      </p:sp>
      <p:sp>
        <p:nvSpPr>
          <p:cNvPr id="36" name="左大括号 35"/>
          <p:cNvSpPr/>
          <p:nvPr/>
        </p:nvSpPr>
        <p:spPr>
          <a:xfrm>
            <a:off x="697865" y="4610735"/>
            <a:ext cx="231775" cy="52387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7" name="文本框 36"/>
          <p:cNvSpPr txBox="1"/>
          <p:nvPr/>
        </p:nvSpPr>
        <p:spPr>
          <a:xfrm>
            <a:off x="929640" y="4517390"/>
            <a:ext cx="1828800" cy="306705"/>
          </a:xfrm>
          <a:prstGeom prst="rect">
            <a:avLst/>
          </a:prstGeom>
          <a:noFill/>
        </p:spPr>
        <p:txBody>
          <a:bodyPr wrap="square" rtlCol="0">
            <a:spAutoFit/>
          </a:bodyPr>
          <a:p>
            <a:pPr indent="0">
              <a:buNone/>
            </a:pPr>
            <a:r>
              <a:rPr lang="en-US" altLang="zh-CN" sz="1400" b="1"/>
              <a:t>Classical</a:t>
            </a:r>
            <a:endParaRPr lang="en-US" altLang="zh-CN" sz="1400" b="1"/>
          </a:p>
        </p:txBody>
      </p:sp>
      <p:sp>
        <p:nvSpPr>
          <p:cNvPr id="38" name="文本框 37"/>
          <p:cNvSpPr txBox="1"/>
          <p:nvPr/>
        </p:nvSpPr>
        <p:spPr>
          <a:xfrm>
            <a:off x="929640" y="4926965"/>
            <a:ext cx="2193925" cy="337185"/>
          </a:xfrm>
          <a:prstGeom prst="rect">
            <a:avLst/>
          </a:prstGeom>
          <a:noFill/>
        </p:spPr>
        <p:txBody>
          <a:bodyPr wrap="square" rtlCol="0">
            <a:spAutoFit/>
          </a:bodyPr>
          <a:p>
            <a:pPr indent="0">
              <a:buNone/>
            </a:pPr>
            <a:r>
              <a:rPr lang="en-US" altLang="zh-CN" sz="1600" b="1"/>
              <a:t>Artificial Intelligence</a:t>
            </a:r>
            <a:endParaRPr lang="en-US" altLang="zh-CN" sz="1600" b="1"/>
          </a:p>
        </p:txBody>
      </p:sp>
      <p:sp>
        <p:nvSpPr>
          <p:cNvPr id="39" name="右箭头 38"/>
          <p:cNvSpPr/>
          <p:nvPr/>
        </p:nvSpPr>
        <p:spPr>
          <a:xfrm rot="2940000">
            <a:off x="4589145" y="3535045"/>
            <a:ext cx="662940" cy="38227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40" name="右箭头 39"/>
          <p:cNvSpPr/>
          <p:nvPr/>
        </p:nvSpPr>
        <p:spPr>
          <a:xfrm rot="18960000">
            <a:off x="6631305" y="3519805"/>
            <a:ext cx="662940" cy="38227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41" name="右箭头 40"/>
          <p:cNvSpPr/>
          <p:nvPr/>
        </p:nvSpPr>
        <p:spPr>
          <a:xfrm rot="10800000">
            <a:off x="5473700" y="2156460"/>
            <a:ext cx="861060" cy="38227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42" name="文本框 41"/>
          <p:cNvSpPr txBox="1"/>
          <p:nvPr/>
        </p:nvSpPr>
        <p:spPr>
          <a:xfrm>
            <a:off x="3559810" y="3793490"/>
            <a:ext cx="1310640" cy="368300"/>
          </a:xfrm>
          <a:prstGeom prst="rect">
            <a:avLst/>
          </a:prstGeom>
          <a:noFill/>
        </p:spPr>
        <p:txBody>
          <a:bodyPr wrap="square" rtlCol="0">
            <a:spAutoFit/>
          </a:bodyPr>
          <a:p>
            <a:r>
              <a:rPr lang="en-US" altLang="zh-CN" b="1">
                <a:solidFill>
                  <a:schemeClr val="accent2"/>
                </a:solidFill>
              </a:rPr>
              <a:t>Integrated</a:t>
            </a:r>
            <a:endParaRPr lang="en-US" altLang="zh-CN" b="1">
              <a:solidFill>
                <a:schemeClr val="accent2"/>
              </a:solidFill>
            </a:endParaRPr>
          </a:p>
        </p:txBody>
      </p:sp>
      <p:sp>
        <p:nvSpPr>
          <p:cNvPr id="44" name="文本框 43"/>
          <p:cNvSpPr txBox="1"/>
          <p:nvPr/>
        </p:nvSpPr>
        <p:spPr>
          <a:xfrm>
            <a:off x="7067550" y="3789045"/>
            <a:ext cx="1310640" cy="368300"/>
          </a:xfrm>
          <a:prstGeom prst="rect">
            <a:avLst/>
          </a:prstGeom>
          <a:noFill/>
        </p:spPr>
        <p:txBody>
          <a:bodyPr wrap="square" rtlCol="0">
            <a:spAutoFit/>
          </a:bodyPr>
          <a:p>
            <a:r>
              <a:rPr lang="en-US" altLang="zh-CN" b="1">
                <a:solidFill>
                  <a:schemeClr val="accent2"/>
                </a:solidFill>
              </a:rPr>
              <a:t>Deployed</a:t>
            </a:r>
            <a:endParaRPr lang="en-US" altLang="zh-CN" b="1">
              <a:solidFill>
                <a:schemeClr val="accent2"/>
              </a:solidFill>
            </a:endParaRPr>
          </a:p>
        </p:txBody>
      </p:sp>
      <p:sp>
        <p:nvSpPr>
          <p:cNvPr id="45" name="文本框 44"/>
          <p:cNvSpPr txBox="1"/>
          <p:nvPr/>
        </p:nvSpPr>
        <p:spPr>
          <a:xfrm>
            <a:off x="5379720" y="1794510"/>
            <a:ext cx="1196975" cy="368300"/>
          </a:xfrm>
          <a:prstGeom prst="rect">
            <a:avLst/>
          </a:prstGeom>
          <a:noFill/>
        </p:spPr>
        <p:txBody>
          <a:bodyPr wrap="square" rtlCol="0">
            <a:spAutoFit/>
          </a:bodyPr>
          <a:p>
            <a:r>
              <a:rPr lang="en-US" altLang="zh-CN" b="1">
                <a:solidFill>
                  <a:schemeClr val="accent2"/>
                </a:solidFill>
              </a:rPr>
              <a:t>Feedback</a:t>
            </a:r>
            <a:endParaRPr lang="en-US" altLang="zh-CN" b="1">
              <a:solidFill>
                <a:schemeClr val="accent2"/>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31983" t="21639" r="31983" b="27432"/>
          <a:stretch>
            <a:fillRect/>
          </a:stretch>
        </p:blipFill>
        <p:spPr bwMode="auto">
          <a:xfrm>
            <a:off x="3763926" y="1939858"/>
            <a:ext cx="8428074" cy="2861554"/>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0" y="1939858"/>
            <a:ext cx="10166888" cy="2861554"/>
          </a:xfrm>
          <a:prstGeom prst="rect">
            <a:avLst/>
          </a:prstGeom>
          <a:gradFill flip="none" rotWithShape="1">
            <a:gsLst>
              <a:gs pos="0">
                <a:schemeClr val="accent1"/>
              </a:gs>
              <a:gs pos="83000">
                <a:schemeClr val="accent1">
                  <a:alpha val="60050"/>
                </a:schemeClr>
              </a:gs>
              <a:gs pos="63000">
                <a:srgbClr val="9B092D"/>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p:cNvSpPr txBox="1"/>
          <p:nvPr/>
        </p:nvSpPr>
        <p:spPr>
          <a:xfrm>
            <a:off x="1060966" y="2729804"/>
            <a:ext cx="8630652" cy="1446550"/>
          </a:xfrm>
          <a:prstGeom prst="rect">
            <a:avLst/>
          </a:prstGeom>
          <a:noFill/>
        </p:spPr>
        <p:txBody>
          <a:bodyPr wrap="square">
            <a:spAutoFit/>
          </a:bodyPr>
          <a:lstStyle/>
          <a:p>
            <a:r>
              <a:rPr lang="en-GB" altLang="zh-CN" sz="4400" b="1" dirty="0">
                <a:solidFill>
                  <a:schemeClr val="bg1"/>
                </a:solidFill>
                <a:latin typeface="Times New Roman" panose="02020603050405020304" pitchFamily="18" charset="0"/>
                <a:cs typeface="Times New Roman" panose="02020603050405020304" pitchFamily="18" charset="0"/>
              </a:rPr>
              <a:t>THANK</a:t>
            </a:r>
            <a:endParaRPr lang="en-GB" altLang="zh-CN" sz="4400" b="1" dirty="0">
              <a:solidFill>
                <a:schemeClr val="bg1"/>
              </a:solidFill>
              <a:latin typeface="Times New Roman" panose="02020603050405020304" pitchFamily="18" charset="0"/>
              <a:cs typeface="Times New Roman" panose="02020603050405020304" pitchFamily="18" charset="0"/>
            </a:endParaRPr>
          </a:p>
          <a:p>
            <a:r>
              <a:rPr lang="en-GB" altLang="zh-CN" sz="4400" b="1" dirty="0">
                <a:solidFill>
                  <a:schemeClr val="bg1"/>
                </a:solidFill>
                <a:latin typeface="Times New Roman" panose="02020603050405020304" pitchFamily="18" charset="0"/>
                <a:cs typeface="Times New Roman" panose="02020603050405020304" pitchFamily="18" charset="0"/>
              </a:rPr>
              <a:t>YOU</a:t>
            </a:r>
            <a:endParaRPr lang="en-GB" altLang="zh-CN" sz="4400" b="1" dirty="0">
              <a:solidFill>
                <a:schemeClr val="bg1"/>
              </a:solidFill>
              <a:latin typeface="Times New Roman" panose="02020603050405020304" pitchFamily="18" charset="0"/>
              <a:cs typeface="Times New Roman" panose="02020603050405020304" pitchFamily="18" charset="0"/>
            </a:endParaRPr>
          </a:p>
        </p:txBody>
      </p:sp>
      <p:sp>
        <p:nvSpPr>
          <p:cNvPr id="14" name="灯片编号占位符 2"/>
          <p:cNvSpPr>
            <a:spLocks noGrp="1"/>
          </p:cNvSpPr>
          <p:nvPr>
            <p:ph type="sldNum" sz="quarter" idx="12"/>
          </p:nvPr>
        </p:nvSpPr>
        <p:spPr>
          <a:xfrm>
            <a:off x="11646551" y="6402826"/>
            <a:ext cx="615471" cy="365125"/>
          </a:xfrm>
        </p:spPr>
        <p:txBody>
          <a:bodyPr/>
          <a:lstStyle/>
          <a:p>
            <a:pPr algn="ctr"/>
            <a:fld id="{088D6D6D-68E4-4840-9278-1F52F3857609}" type="slidenum">
              <a:rPr kumimoji="1" lang="zh-CN" altLang="en-US" sz="1600" smtClean="0">
                <a:solidFill>
                  <a:schemeClr val="accent1"/>
                </a:solidFill>
                <a:latin typeface="Times New Roman" panose="02020603050405020304" pitchFamily="18" charset="0"/>
                <a:cs typeface="Times New Roman" panose="02020603050405020304" pitchFamily="18" charset="0"/>
              </a:rPr>
            </a:fld>
            <a:endParaRPr kumimoji="1" lang="zh-CN" altLang="en-US" sz="1600"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DIAGRAM_VIRTUALLY_FRAME" val="{&quot;height&quot;:168.15,&quot;left&quot;:55.35,&quot;top&quot;:194,&quot;width&quot;:849.3}"/>
</p:tagLst>
</file>

<file path=ppt/tags/tag5.xml><?xml version="1.0" encoding="utf-8"?>
<p:tagLst xmlns:p="http://schemas.openxmlformats.org/presentationml/2006/main">
  <p:tag name="KSO_WM_DIAGRAM_VIRTUALLY_FRAME" val="{&quot;height&quot;:168.15,&quot;left&quot;:55.35,&quot;top&quot;:194,&quot;width&quot;:849.3}"/>
</p:tagLst>
</file>

<file path=ppt/tags/tag6.xml><?xml version="1.0" encoding="utf-8"?>
<p:tagLst xmlns:p="http://schemas.openxmlformats.org/presentationml/2006/main">
  <p:tag name="resource_record_key" val="{&quot;13&quot;:[4364924,4364888,4364957,4364933,4364884,20042469,4364912],&quot;70&quot;:[3428851]}"/>
</p:tagLst>
</file>

<file path=ppt/theme/theme1.xml><?xml version="1.0" encoding="utf-8"?>
<a:theme xmlns:a="http://schemas.openxmlformats.org/drawingml/2006/main" name="Office 主题​​">
  <a:themeElements>
    <a:clrScheme name="自定义 2066">
      <a:dk1>
        <a:srgbClr val="000000"/>
      </a:dk1>
      <a:lt1>
        <a:srgbClr val="FFFFFF"/>
      </a:lt1>
      <a:dk2>
        <a:srgbClr val="44546A"/>
      </a:dk2>
      <a:lt2>
        <a:srgbClr val="E7E6E6"/>
      </a:lt2>
      <a:accent1>
        <a:srgbClr val="9B092D"/>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6614</Words>
  <Application>WPS 演示</Application>
  <PresentationFormat>宽屏</PresentationFormat>
  <Paragraphs>466</Paragraphs>
  <Slides>29</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15</vt:i4>
      </vt:variant>
      <vt:variant>
        <vt:lpstr>幻灯片标题</vt:lpstr>
      </vt:variant>
      <vt:variant>
        <vt:i4>29</vt:i4>
      </vt:variant>
    </vt:vector>
  </HeadingPairs>
  <TitlesOfParts>
    <vt:vector size="55" baseType="lpstr">
      <vt:lpstr>Arial</vt:lpstr>
      <vt:lpstr>宋体</vt:lpstr>
      <vt:lpstr>Wingdings</vt:lpstr>
      <vt:lpstr>Times New Roman</vt:lpstr>
      <vt:lpstr>微软雅黑</vt:lpstr>
      <vt:lpstr>Helvetica Neue Medium</vt:lpstr>
      <vt:lpstr>等线</vt:lpstr>
      <vt:lpstr>Arial Unicode MS</vt:lpstr>
      <vt:lpstr>等线 Light</vt:lpstr>
      <vt:lpstr>Calibri</vt:lpstr>
      <vt:lpstr>Office 主题​​</vt:lpstr>
      <vt:lpstr>Paint.Picture</vt:lpstr>
      <vt:lpstr>PBrush</vt:lpstr>
      <vt:lpstr>PBrush</vt:lpstr>
      <vt:lpstr>PBrush</vt:lpstr>
      <vt:lpstr>PBrush</vt:lpstr>
      <vt:lpstr>PBrush</vt:lpstr>
      <vt:lpstr>Paint.Picture</vt:lpstr>
      <vt:lpstr>PBrush</vt:lpstr>
      <vt:lpstr>PBrush</vt:lpstr>
      <vt:lpstr>PBrush</vt:lpstr>
      <vt:lpstr>PBrush</vt:lpstr>
      <vt:lpstr>PBrush</vt:lpstr>
      <vt:lpstr>PBrush</vt:lpstr>
      <vt:lpstr>PBrush</vt:lpstr>
      <vt:lpstr>PBrush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相如</cp:lastModifiedBy>
  <cp:revision>60</cp:revision>
  <dcterms:created xsi:type="dcterms:W3CDTF">2025-01-23T00:24:00Z</dcterms:created>
  <dcterms:modified xsi:type="dcterms:W3CDTF">2025-11-17T12:03:18Z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1438AC5DEB3B42DF90A3B0087EDBF384_12</vt:lpwstr>
  </property>
  <property fmtid="{D5CDD505-2E9C-101B-9397-08002B2CF9AE}" pid="3" name="KSOProductBuildVer">
    <vt:lpwstr>2052-12.1.0.23542</vt:lpwstr>
  </property>
</Properties>
</file>